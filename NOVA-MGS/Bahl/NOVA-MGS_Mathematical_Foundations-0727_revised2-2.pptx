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9"/>
    <p:sldId id="274" r:id="rId20"/>
    <p:sldId id="272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Broder, A.Z. On the resemblance and containment of documents. SEQUENCES'97, IEEE, 1997, 21-29.</a:t>
            </a:r>
          </a:p>
          <a:p>
            <a:r>
              <a:t>- Broder, Charikar, Frieze &amp; Mitzenmacher. Min-wise independent permutations. STOC 1998; JCSS 60(3):630-659, 2000.</a:t>
            </a:r>
          </a:p>
          <a:p>
            <a:r>
              <a:t>- Ondov et al. Mash: fast genome and metagenome distance estimation using MinHash. Genome Biology 17:132, 2016.</a:t>
            </a:r>
          </a:p>
          <a:p>
            <a:r>
              <a:t>- Cohen, E. Size-estimation framework with applications to transitive closure and reachability. JCSS 55(3):441-453, 1997.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Brown, C.T. &amp; Irber, L. sourmash: a library for MinHash sketching of DNA. JOSS 1(5):27, 2016.</a:t>
            </a:r>
          </a:p>
          <a:p>
            <a:r>
              <a:t>- Irber et al. Lightweight compositional analysis of metagenomes with FracMinHash. bioRxiv 2022.01.11.475838.</a:t>
            </a:r>
          </a:p>
          <a:p>
            <a:r>
              <a:t>- Hera, Pierce-Ward &amp; Koslicki. Deriving confidence intervals for mutation rates across a wide range of evolutionary distances using FracMinHash. Genome Research 33(7):1061-1068, 2023.</a:t>
            </a:r>
          </a:p>
          <a:p>
            <a:r>
              <a:t>- Koslicki, D. &amp; Zabeti, H. Improving MinHash via the containment index. Applied Mathematics and Computation 354:206-215, 2019.</a:t>
            </a:r>
          </a:p>
          <a:p>
            <a:r>
              <a:t>- Blanca, Harris, Koslicki &amp; Medvedev. The statistics of k-mers from a sequence undergoing a simple mutation process without spurious matches. J Comput Biol 29(2):155-168, 2022.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Breunig, Kriegel, Ng &amp; Sander. LOF: Identifying Density-Based Local Outliers. SIGMOD 2000.</a:t>
            </a:r>
          </a:p>
          <a:p>
            <a:r>
              <a:t>- Lin et al. Evolutionary-scale prediction of atomic-level protein structure with a language model (ESM-2). Science 379:1123-1130, 2023.</a:t>
            </a:r>
          </a:p>
          <a:p>
            <a:r>
              <a:t>- Aggarwal, Hinneburg &amp; Keim. On the surprising behavior of distance metrics in high dimensional space. ICDT 2001.</a:t>
            </a:r>
          </a:p>
          <a:p>
            <a:r>
              <a:t>- Zimek, Schubert &amp; Kriegel. A survey on unsupervised outlier detection in high-dimensional numerical data. Stat Anal Data Min 5(5):363-387, 2012.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Barlow, Bartholomew, Bremner &amp; Brunk. Statistical Inference under Order Restrictions. Wiley, 1972.</a:t>
            </a:r>
          </a:p>
          <a:p>
            <a:r>
              <a:t>- scikit-learn documentation: IsotonicRegression.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Breunig et al. LOF: Identifying Density-Based Local Outliers. SIGMOD, 2000.
- Barlow et al. Statistical Inference under Order Restrictions. Wiley, 1972.
- scikit-learn documentation: LogisticRegression, IsotonicRegression, calibration curves, and Brier score.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Breunig et al. LOF: Identifying Density-Based Local Outliers. SIGMOD, 2000.
- Barlow et al. Statistical Inference under Order Restrictions. Wiley, 1972.
- scikit-learn documentation: LogisticRegression, IsotonicRegression, calibration curves, and Brier score.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Benchmark backgrounds: CASPER PRJNA1247874; NWSS PRJNA747181; Tisza et al. 2023 PRJNA966185; Wolfe et al. 2026 PRJNA1438722.</a:t>
            </a:r>
          </a:p>
          <a:p>
            <a:r>
              <a:t>- Leave-one-clade-out and time-split protocols follow the leakage-control conventions used in CAMI benchmarking.</a:t>
            </a:r>
          </a:p>
          <a:p>
            <a:r>
              <a:t>- Sczyrba et al. Critical Assessment of Metagenome Interpretation (CAMI). Nature Methods 14:1063-1071, 2017.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Saito, T. &amp; Rehmsmeier, M. The precision-recall plot is more informative than the ROC plot when evaluating binary classifiers on imbalanced datasets. PLoS ONE 10(3):e0118432, 2015.</a:t>
            </a:r>
          </a:p>
          <a:p>
            <a:r>
              <a:t>- Brier, G.W. Verification of forecasts expressed in terms of probability. Monthly Weather Review 78(1):1-3, 1950.</a:t>
            </a:r>
          </a:p>
          <a:p>
            <a:r>
              <a:t>- Murphy, A.H. A new vector partition of the probability score. J Applied Meteorology 12(4):595-600, 1973.</a:t>
            </a:r>
          </a:p>
          <a:p>
            <a:r>
              <a:t>- Niculescu-Mizil, A. &amp; Caruana, R. Predicting good probabilities with supervised learning. ICML 2005.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0A4A4F1F-2BFF-4B1C-A742-7D899DB58AE7}"/>
              </a:ext>
            </a:extLst>
          </p:cNvPr>
          <p:cNvSpPr>
            <a:spLocks noGrp="1"/>
          </p:cNvSpPr>
          <p:nvPr/>
        </p:nvSpPr>
        <p:spPr>
          <a:xfrm>
            <a:off x="822960" y="166106"/>
            <a:ext cx="10058400" cy="2439933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BLUEPRINT BIOSECURITY  ·  PATHOGEN-AGNOSTIC BIOTHREAT DETECTION RFP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F902C9-58A0-4C8E-B9C0-35F7DCD66023}"/>
              </a:ext>
            </a:extLst>
          </p:cNvPr>
          <p:cNvSpPr>
            <a:spLocks noGrp="1"/>
          </p:cNvSpPr>
          <p:nvPr/>
        </p:nvSpPr>
        <p:spPr>
          <a:xfrm>
            <a:off x="777240" y="1600200"/>
            <a:ext cx="1031397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latin typeface="Cambria"/>
                <a:ea typeface="Cambria"/>
                <a:cs typeface="Cambria"/>
              </a:rPr>
              <a:t>Proposal 1: NOVA-MGS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FD5D66-DDE6-47F3-BD53-C3856445FCF0}"/>
              </a:ext>
            </a:extLst>
          </p:cNvPr>
          <p:cNvSpPr>
            <a:spLocks noGrp="1"/>
          </p:cNvSpPr>
          <p:nvPr/>
        </p:nvSpPr>
        <p:spPr>
          <a:xfrm>
            <a:off x="822960" y="2606040"/>
            <a:ext cx="10424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800">
                <a:latin typeface="Cambria"/>
                <a:ea typeface="Cambria"/>
                <a:cs typeface="Cambria"/>
              </a:rPr>
              <a:t>Mathematical Foundations of Metagenomic Pathogen Detection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6FD06D-ECF8-4861-B75B-94A2C0381338}"/>
              </a:ext>
            </a:extLst>
          </p:cNvPr>
          <p:cNvSpPr>
            <a:spLocks noGrp="1"/>
          </p:cNvSpPr>
          <p:nvPr/>
        </p:nvSpPr>
        <p:spPr>
          <a:xfrm>
            <a:off x="822960" y="3457946"/>
            <a:ext cx="10058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i="1">
                <a:latin typeface="Calibri"/>
                <a:ea typeface="Calibri"/>
                <a:cs typeface="Calibri"/>
              </a:rPr>
              <a:t>Reference-free novelty scoring, probabilistic calibration, and evidence verification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DD529F0-0908-443B-ACF3-47D8F1D04B2C}"/>
              </a:ext>
            </a:extLst>
          </p:cNvPr>
          <p:cNvSpPr>
            <a:spLocks noGrp="1"/>
          </p:cNvSpPr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14E8FE-FF39-486F-A936-D430F8A20FDB}"/>
              </a:ext>
            </a:extLst>
          </p:cNvPr>
          <p:cNvSpPr>
            <a:spLocks noGrp="1"/>
          </p:cNvSpPr>
          <p:nvPr/>
        </p:nvSpPr>
        <p:spPr>
          <a:xfrm>
            <a:off x="822960" y="5257800"/>
            <a:ext cx="7315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15000"/>
              </a:lnSpc>
              <a:buNone/>
            </a:pPr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80E2E52-5867-49E1-95C5-44C86BE89115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EACB411-96AD-4091-BD09-BE34FF6EA966}"/>
              </a:ext>
            </a:extLst>
          </p:cNvPr>
          <p:cNvSpPr>
            <a:spLocks noGrp="1"/>
          </p:cNvSpPr>
          <p:nvPr/>
        </p:nvSpPr>
        <p:spPr>
          <a:xfrm>
            <a:off x="1534525" y="4434841"/>
            <a:ext cx="214873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i="1">
                <a:latin typeface="Calibri"/>
                <a:ea typeface="Calibri"/>
                <a:cs typeface="Calibri"/>
              </a:rPr>
              <a:t>Sihua Peng, 07/27/2026 </a:t>
            </a:r>
          </a:p>
        </p:txBody>
      </p:sp>
    </p:spTree>
    <p:extLst>
      <p:ext uri="{BB962C8B-B14F-4D97-AF65-F5344CB8AC3E}">
        <p14:creationId xmlns:p14="http://schemas.microsoft.com/office/powerpoint/2010/main" val="1949827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6005634-2505-48F2-A3A1-AADE1E345FD0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Σ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3C9413-BD1E-4E8D-A407-B6EE824DC491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8FD864-365E-4F32-9A72-C2420BD35B3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From k-</a:t>
            </a: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mers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to Calibrated Probabilities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A4AD83-0D9B-4B2D-847F-CC466FC13CDB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86AA93-BDB2-4B49-9A91-266D433228F8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3BCAE1-3AAB-431C-807B-DA85DBD63A9B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 dirty="0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779453-5202-4739-B656-F97A43DCFE6A}"/>
              </a:ext>
            </a:extLst>
          </p:cNvPr>
          <p:cNvSpPr>
            <a:spLocks noGrp="1"/>
          </p:cNvSpPr>
          <p:nvPr/>
        </p:nvSpPr>
        <p:spPr>
          <a:xfrm>
            <a:off x="1737360" y="1691640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Set-Similarity Theory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ECE068-1AB8-47CC-83B7-067A68A5CE9D}"/>
              </a:ext>
            </a:extLst>
          </p:cNvPr>
          <p:cNvSpPr>
            <a:spLocks noGrp="1"/>
          </p:cNvSpPr>
          <p:nvPr/>
        </p:nvSpPr>
        <p:spPr>
          <a:xfrm>
            <a:off x="5394960" y="1691640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k-</a:t>
            </a:r>
            <a:r>
              <a:rPr sz="16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mers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MinHash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sz="16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FracMinHash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 sketching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D66227-22E7-4FB1-8258-2AE5FF04F0C5}"/>
              </a:ext>
            </a:extLst>
          </p:cNvPr>
          <p:cNvSpPr>
            <a:spLocks noGrp="1"/>
          </p:cNvSpPr>
          <p:nvPr/>
        </p:nvSpPr>
        <p:spPr>
          <a:xfrm>
            <a:off x="457200" y="2587752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6D657C-8594-4385-BEC0-34FBA0579A15}"/>
              </a:ext>
            </a:extLst>
          </p:cNvPr>
          <p:cNvSpPr>
            <a:spLocks noGrp="1"/>
          </p:cNvSpPr>
          <p:nvPr/>
        </p:nvSpPr>
        <p:spPr>
          <a:xfrm>
            <a:off x="685800" y="2587752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61EB36-BF74-4FF5-B852-F7B14C42F6D4}"/>
              </a:ext>
            </a:extLst>
          </p:cNvPr>
          <p:cNvSpPr>
            <a:spLocks noGrp="1"/>
          </p:cNvSpPr>
          <p:nvPr/>
        </p:nvSpPr>
        <p:spPr>
          <a:xfrm>
            <a:off x="1737360" y="2587752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Embedding-Space Geometry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22F1EDA-5A53-4267-B9B8-AFE3F8D78CA8}"/>
              </a:ext>
            </a:extLst>
          </p:cNvPr>
          <p:cNvSpPr>
            <a:spLocks noGrp="1"/>
          </p:cNvSpPr>
          <p:nvPr/>
        </p:nvSpPr>
        <p:spPr>
          <a:xfrm>
            <a:off x="5394960" y="2587752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Protein language model embeddings &amp; density-based outlier detection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F5663A8-0A46-4299-B9EF-D2A2EB23BB51}"/>
              </a:ext>
            </a:extLst>
          </p:cNvPr>
          <p:cNvSpPr>
            <a:spLocks noGrp="1"/>
          </p:cNvSpPr>
          <p:nvPr/>
        </p:nvSpPr>
        <p:spPr>
          <a:xfrm>
            <a:off x="457200" y="3483864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0FA349E-B21C-418E-A4F5-B954D3718447}"/>
              </a:ext>
            </a:extLst>
          </p:cNvPr>
          <p:cNvSpPr>
            <a:spLocks noGrp="1"/>
          </p:cNvSpPr>
          <p:nvPr/>
        </p:nvSpPr>
        <p:spPr>
          <a:xfrm>
            <a:off x="685800" y="3483864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A95913-BB95-485A-9EB5-38D0C52A9A08}"/>
              </a:ext>
            </a:extLst>
          </p:cNvPr>
          <p:cNvSpPr>
            <a:spLocks noGrp="1"/>
          </p:cNvSpPr>
          <p:nvPr/>
        </p:nvSpPr>
        <p:spPr>
          <a:xfrm>
            <a:off x="1737360" y="3483864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759E3BB-2C54-4BFF-8133-E35E5E81A4AD}"/>
              </a:ext>
            </a:extLst>
          </p:cNvPr>
          <p:cNvSpPr>
            <a:spLocks noGrp="1"/>
          </p:cNvSpPr>
          <p:nvPr/>
        </p:nvSpPr>
        <p:spPr>
          <a:xfrm>
            <a:off x="5394960" y="3483864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600" dirty="0">
                <a:solidFill>
                  <a:srgbClr val="5A6B7A"/>
                </a:solidFill>
                <a:ea typeface="Calibri"/>
                <a:cs typeface="Calibri"/>
              </a:rPr>
              <a:t>NCS fusion and 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Isotonic regression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BBF72D0-4C01-4245-A007-5F0055109044}"/>
              </a:ext>
            </a:extLst>
          </p:cNvPr>
          <p:cNvSpPr>
            <a:spLocks noGrp="1"/>
          </p:cNvSpPr>
          <p:nvPr/>
        </p:nvSpPr>
        <p:spPr>
          <a:xfrm>
            <a:off x="457200" y="4379976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22CEF38-9660-42F3-86F8-38BEBA8FC5AD}"/>
              </a:ext>
            </a:extLst>
          </p:cNvPr>
          <p:cNvSpPr>
            <a:spLocks noGrp="1"/>
          </p:cNvSpPr>
          <p:nvPr/>
        </p:nvSpPr>
        <p:spPr>
          <a:xfrm>
            <a:off x="685800" y="4379976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5200D10-323E-4343-A6EE-B1A316FBF1FB}"/>
              </a:ext>
            </a:extLst>
          </p:cNvPr>
          <p:cNvSpPr>
            <a:spLocks noGrp="1"/>
          </p:cNvSpPr>
          <p:nvPr/>
        </p:nvSpPr>
        <p:spPr>
          <a:xfrm>
            <a:off x="1737360" y="4379976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Leakage-Safe Benchmark Design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A175124-3995-45F6-8DF5-E5F3608521FD}"/>
              </a:ext>
            </a:extLst>
          </p:cNvPr>
          <p:cNvSpPr>
            <a:spLocks noGrp="1"/>
          </p:cNvSpPr>
          <p:nvPr/>
        </p:nvSpPr>
        <p:spPr>
          <a:xfrm>
            <a:off x="5394960" y="4379976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Held-out lineages, taxonomic distance, and realistic backgrounds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58E9875-182D-418E-BBA0-398A37989CD2}"/>
              </a:ext>
            </a:extLst>
          </p:cNvPr>
          <p:cNvSpPr>
            <a:spLocks noGrp="1"/>
          </p:cNvSpPr>
          <p:nvPr/>
        </p:nvSpPr>
        <p:spPr>
          <a:xfrm>
            <a:off x="457200" y="5276088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88A1BD8-D733-44A3-9734-F5ABF995C27A}"/>
              </a:ext>
            </a:extLst>
          </p:cNvPr>
          <p:cNvSpPr>
            <a:spLocks noGrp="1"/>
          </p:cNvSpPr>
          <p:nvPr/>
        </p:nvSpPr>
        <p:spPr>
          <a:xfrm>
            <a:off x="685800" y="5276088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7D45BA5-A5BE-45C2-B880-AC4F5A5F5A0D}"/>
              </a:ext>
            </a:extLst>
          </p:cNvPr>
          <p:cNvSpPr>
            <a:spLocks noGrp="1"/>
          </p:cNvSpPr>
          <p:nvPr/>
        </p:nvSpPr>
        <p:spPr>
          <a:xfrm>
            <a:off x="1737360" y="5276088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Validation &amp; Evaluation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FAC81DB-27D2-4A62-AAA4-0AF72814B079}"/>
              </a:ext>
            </a:extLst>
          </p:cNvPr>
          <p:cNvSpPr>
            <a:spLocks noGrp="1"/>
          </p:cNvSpPr>
          <p:nvPr/>
        </p:nvSpPr>
        <p:spPr>
          <a:xfrm>
            <a:off x="5394960" y="5276088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AUPRC, false-alert burden, and probability reliability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A5B51DB-6D4A-4E62-9099-9D232773D203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282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6">
            <a:extLst>
              <a:ext uri="{FF2B5EF4-FFF2-40B4-BE49-F238E27FC236}">
                <a16:creationId xmlns:a16="http://schemas.microsoft.com/office/drawing/2014/main" id="{150DD4F5-103F-4C2A-AA9C-A4C2673ABABA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A0A19-5A30-4552-AA90-6FC763C419AE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7403758" cy="5847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Dual-Channel Scoring, Calibration &amp; Evidence Verification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558003-CC2D-49BA-8859-207B1235911C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pic>
        <p:nvPicPr>
          <p:cNvPr id="1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3748"/>
            <a:ext cx="10958186" cy="362424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585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6B7BB56-2A55-461B-B60A-D4B88D585E22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4CA13C-579A-44C3-B3F1-01EC201DFBC1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Background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41ABAA-4A9E-40CC-BED4-E565BDF97E6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Why Detection Needs Reference-Free Math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9E691D-5D23-4415-9C38-23FA847624D3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B3FD55-FCEF-4F21-8D5B-17E750D50FEB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760720" cy="44805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Kraken2/Bracken, GOTTCHA2, and Centrifuge all rely on reference matching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 genuinely novel or highly divergent pathogen has, by construction, no reference to match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result isn't misclassification — it's discarded into the unclassified fraction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In real wastewater metagenomes, that unclassified fraction routinely runs 60%–90%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Lower stringency → candidate surge → analyst review becomes the new bottleneck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69385C-7445-4086-9E53-0FE9944DEED6}"/>
              </a:ext>
            </a:extLst>
          </p:cNvPr>
          <p:cNvSpPr>
            <a:spLocks noGrp="1"/>
          </p:cNvSpPr>
          <p:nvPr/>
        </p:nvSpPr>
        <p:spPr>
          <a:xfrm>
            <a:off x="6419588" y="1600200"/>
            <a:ext cx="5284731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2744DF-98AB-4777-8B88-EA67C2EB2F48}"/>
              </a:ext>
            </a:extLst>
          </p:cNvPr>
          <p:cNvSpPr>
            <a:spLocks noGrp="1"/>
          </p:cNvSpPr>
          <p:nvPr/>
        </p:nvSpPr>
        <p:spPr>
          <a:xfrm>
            <a:off x="6858000" y="1783080"/>
            <a:ext cx="457200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 Formal Statement of the Problem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34664F0-EA4C-4A28-87EE-7D9D6012FB62}"/>
              </a:ext>
            </a:extLst>
          </p:cNvPr>
          <p:cNvSpPr>
            <a:spLocks noGrp="1"/>
          </p:cNvSpPr>
          <p:nvPr/>
        </p:nvSpPr>
        <p:spPr>
          <a:xfrm>
            <a:off x="6479956" y="2130552"/>
            <a:ext cx="5094093" cy="58579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12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reads(sample) = reads(in known DB) + reads(out-of-DB)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2D31E7D-525F-48D6-8127-7A605A447194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4572000" cy="30621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P(detect | q) depends on sim(q, D_viral)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3E85F7-708D-49D5-8BF6-AD2ED76D79F6}"/>
              </a:ext>
            </a:extLst>
          </p:cNvPr>
          <p:cNvSpPr>
            <a:spLocks noGrp="1"/>
          </p:cNvSpPr>
          <p:nvPr/>
        </p:nvSpPr>
        <p:spPr>
          <a:xfrm>
            <a:off x="6858000" y="3392424"/>
            <a:ext cx="4572000" cy="30621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As sim(q, D_viral) → 0, detection rate → 0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998F0C-ABBC-4E63-BA22-36802DB0C8EF}"/>
              </a:ext>
            </a:extLst>
          </p:cNvPr>
          <p:cNvSpPr>
            <a:spLocks noGrp="1"/>
          </p:cNvSpPr>
          <p:nvPr/>
        </p:nvSpPr>
        <p:spPr>
          <a:xfrm>
            <a:off x="6858000" y="3849624"/>
            <a:ext cx="4572000" cy="58459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NOVA-MGS's goal: turn the “similarity → 0” regime into a continuous, calibrated novelty probability — not a discarded read.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E2ACE3B-6D3C-45A5-B1DC-3BA3BCA0513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701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7C6DBF2-2588-4D9E-BF5A-A40BC8B400E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⇄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BBA68-2A29-4BEC-8557-F907CBC351AB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System Overview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18610F3-D1CD-4291-AA0E-CD34606BF99D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Dual-Channel Scoring &amp; Evidence Verification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8F5729-8446-4AB8-93D8-14B705057F9A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0BE965-6E88-4194-B7EF-F552267B07FF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905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386782-5511-4455-AFEB-06F0F4F28292}"/>
              </a:ext>
            </a:extLst>
          </p:cNvPr>
          <p:cNvSpPr>
            <a:spLocks noGrp="1"/>
          </p:cNvSpPr>
          <p:nvPr/>
        </p:nvSpPr>
        <p:spPr>
          <a:xfrm>
            <a:off x="59436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Channel A · Nucleotide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D43484-D1B4-40FF-A8A4-6686CAFC11E0}"/>
              </a:ext>
            </a:extLst>
          </p:cNvPr>
          <p:cNvSpPr>
            <a:spLocks noGrp="1"/>
          </p:cNvSpPr>
          <p:nvPr/>
        </p:nvSpPr>
        <p:spPr>
          <a:xfrm>
            <a:off x="59436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4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FracMinHash</a:t>
            </a: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4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sourmash</a:t>
            </a:r>
            <a:endParaRPr sz="1400" dirty="0">
              <a:solidFill>
                <a:srgbClr val="5A6B7A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containment estimation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3F57E66-73D6-41A8-A333-33AB99DDD950}"/>
              </a:ext>
            </a:extLst>
          </p:cNvPr>
          <p:cNvSpPr>
            <a:spLocks noGrp="1"/>
          </p:cNvSpPr>
          <p:nvPr/>
        </p:nvSpPr>
        <p:spPr>
          <a:xfrm>
            <a:off x="2971800" y="2743200"/>
            <a:ext cx="320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03D7A78-6468-4135-AB05-80BB490A4115}"/>
              </a:ext>
            </a:extLst>
          </p:cNvPr>
          <p:cNvSpPr>
            <a:spLocks noGrp="1"/>
          </p:cNvSpPr>
          <p:nvPr/>
        </p:nvSpPr>
        <p:spPr>
          <a:xfrm>
            <a:off x="329184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905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C8AC727-007D-4F57-B0FF-B0B63DAA9EC7}"/>
              </a:ext>
            </a:extLst>
          </p:cNvPr>
          <p:cNvSpPr>
            <a:spLocks noGrp="1"/>
          </p:cNvSpPr>
          <p:nvPr/>
        </p:nvSpPr>
        <p:spPr>
          <a:xfrm>
            <a:off x="342900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Channel B · Protein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D8DD6A-1939-4682-A553-7E669DE65D1B}"/>
              </a:ext>
            </a:extLst>
          </p:cNvPr>
          <p:cNvSpPr>
            <a:spLocks noGrp="1"/>
          </p:cNvSpPr>
          <p:nvPr/>
        </p:nvSpPr>
        <p:spPr>
          <a:xfrm>
            <a:off x="342900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2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ESM-2 embedding +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2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density-based outlier detection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7A6C75-21E2-4913-933A-654BD8339876}"/>
              </a:ext>
            </a:extLst>
          </p:cNvPr>
          <p:cNvSpPr>
            <a:spLocks noGrp="1"/>
          </p:cNvSpPr>
          <p:nvPr/>
        </p:nvSpPr>
        <p:spPr>
          <a:xfrm>
            <a:off x="5806440" y="2743200"/>
            <a:ext cx="320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1B6D5A-DFB8-4009-880B-C4CAEC3B0040}"/>
              </a:ext>
            </a:extLst>
          </p:cNvPr>
          <p:cNvSpPr>
            <a:spLocks noGrp="1"/>
          </p:cNvSpPr>
          <p:nvPr/>
        </p:nvSpPr>
        <p:spPr>
          <a:xfrm>
            <a:off x="612648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9050">
            <a:solidFill>
              <a:srgbClr val="0B2545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CE26F30-52F9-4EB6-BBA7-B072663A9F14}"/>
              </a:ext>
            </a:extLst>
          </p:cNvPr>
          <p:cNvSpPr>
            <a:spLocks noGrp="1"/>
          </p:cNvSpPr>
          <p:nvPr/>
        </p:nvSpPr>
        <p:spPr>
          <a:xfrm>
            <a:off x="626364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Fusion &amp; Calibration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69E1CE-2FC6-4D36-9A68-ADF298FD8C1B}"/>
              </a:ext>
            </a:extLst>
          </p:cNvPr>
          <p:cNvSpPr>
            <a:spLocks noGrp="1"/>
          </p:cNvSpPr>
          <p:nvPr/>
        </p:nvSpPr>
        <p:spPr>
          <a:xfrm>
            <a:off x="626364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Logistic Fusion</a:t>
            </a:r>
            <a:r>
              <a:rPr lang="en-US" sz="1400" dirty="0">
                <a:solidFill>
                  <a:srgbClr val="5A6B7A"/>
                </a:solidFill>
                <a:ea typeface="Calibri"/>
                <a:cs typeface="Calibri"/>
              </a:rPr>
              <a:t> → </a:t>
            </a: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Isotonic regression →</a:t>
            </a:r>
            <a:r>
              <a:rPr lang="en-US"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 NCS (</a:t>
            </a: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Novelty and Concern Score</a:t>
            </a:r>
            <a:r>
              <a:rPr lang="en-US"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)</a:t>
            </a:r>
            <a:endParaRPr sz="1400" dirty="0">
              <a:solidFill>
                <a:srgbClr val="5A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BFF2C2-3633-4FE2-950B-D61B8E6D05E1}"/>
              </a:ext>
            </a:extLst>
          </p:cNvPr>
          <p:cNvSpPr>
            <a:spLocks noGrp="1"/>
          </p:cNvSpPr>
          <p:nvPr/>
        </p:nvSpPr>
        <p:spPr>
          <a:xfrm>
            <a:off x="8641080" y="2743200"/>
            <a:ext cx="320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390FB29-2734-4DD7-B52E-AFFDF3CD9DEB}"/>
              </a:ext>
            </a:extLst>
          </p:cNvPr>
          <p:cNvSpPr>
            <a:spLocks noGrp="1"/>
          </p:cNvSpPr>
          <p:nvPr/>
        </p:nvSpPr>
        <p:spPr>
          <a:xfrm>
            <a:off x="896112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EEF3F7"/>
          </a:solidFill>
          <a:ln w="19050">
            <a:solidFill>
              <a:srgbClr val="E8A33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A5E88FA-D10D-4F15-AF07-A3E05C8150D1}"/>
              </a:ext>
            </a:extLst>
          </p:cNvPr>
          <p:cNvSpPr>
            <a:spLocks noGrp="1"/>
          </p:cNvSpPr>
          <p:nvPr/>
        </p:nvSpPr>
        <p:spPr>
          <a:xfrm>
            <a:off x="909828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latin typeface="Calibri"/>
                <a:ea typeface="Calibri"/>
                <a:cs typeface="Calibri"/>
              </a:rPr>
              <a:t>Evidence Verification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9D8652-706D-4CDD-AD96-246F67847753}"/>
              </a:ext>
            </a:extLst>
          </p:cNvPr>
          <p:cNvSpPr>
            <a:spLocks noGrp="1"/>
          </p:cNvSpPr>
          <p:nvPr/>
        </p:nvSpPr>
        <p:spPr>
          <a:xfrm>
            <a:off x="909828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400" dirty="0">
                <a:latin typeface="Calibri"/>
                <a:ea typeface="Calibri"/>
                <a:cs typeface="Calibri"/>
              </a:rPr>
              <a:t>Read support + coverage checks →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400" dirty="0">
                <a:latin typeface="Calibri"/>
                <a:ea typeface="Calibri"/>
                <a:cs typeface="Calibri"/>
              </a:rPr>
              <a:t>evidence-verified dossier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709C0FD-F13D-47D2-B3FC-2E8A6C4C54B5}"/>
              </a:ext>
            </a:extLst>
          </p:cNvPr>
          <p:cNvSpPr>
            <a:spLocks noGrp="1"/>
          </p:cNvSpPr>
          <p:nvPr/>
        </p:nvSpPr>
        <p:spPr>
          <a:xfrm>
            <a:off x="457200" y="4526280"/>
            <a:ext cx="11274552" cy="1508760"/>
          </a:xfrm>
          <a:prstGeom prst="roundRect">
            <a:avLst>
              <a:gd name="adj" fmla="val 4848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F35D20-0F5F-430A-9A9F-6686AA720966}"/>
              </a:ext>
            </a:extLst>
          </p:cNvPr>
          <p:cNvSpPr>
            <a:spLocks noGrp="1"/>
          </p:cNvSpPr>
          <p:nvPr/>
        </p:nvSpPr>
        <p:spPr>
          <a:xfrm>
            <a:off x="731520" y="4709160"/>
            <a:ext cx="10725912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Mathematical Objects This Talk Covers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C2A9D19-19C5-437A-B571-757BE2DAFCAD}"/>
              </a:ext>
            </a:extLst>
          </p:cNvPr>
          <p:cNvSpPr>
            <a:spLocks noGrp="1"/>
          </p:cNvSpPr>
          <p:nvPr/>
        </p:nvSpPr>
        <p:spPr>
          <a:xfrm>
            <a:off x="731520" y="5056632"/>
            <a:ext cx="10725912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x_A(c) = 1 − Ĉ(c, D_viral);   x_B(c) = Aggregate{ LOF_κ(o) : o ∈ O(c) }   →   z_c = β₀ + β₁x_A(c) + β₂x_B(c) + β₃x_A(c)x_B(c)   →   NCS_c = g_iso(z_c)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9B9F74A-C9CB-4193-A681-1C0D608F9A19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774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A7F8DB7-C374-427D-B20C-ED53C8673ED5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Σ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17D992-80D8-4A28-BD09-30ECE8CE9C54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Set-Similarity Theory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174511-9FDC-434F-B4DD-46A2A741F47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k-</a:t>
            </a: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mer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Sets &amp; </a:t>
            </a: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MinHash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Sketching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59A245-DB5B-423B-867F-B4E3EB72A488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4B0049-A2CD-458C-AC92-1E761882C2EA}"/>
              </a:ext>
            </a:extLst>
          </p:cNvPr>
          <p:cNvSpPr>
            <a:spLocks noGrp="1"/>
          </p:cNvSpPr>
          <p:nvPr/>
        </p:nvSpPr>
        <p:spPr>
          <a:xfrm>
            <a:off x="457200" y="1481329"/>
            <a:ext cx="5394960" cy="520293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Split a sequence of length L into every length-k substring (k-mer)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 hash function h maps each k-mer to a near-uniform integer in [0, H) — a fixed-length fingerprint of arbitrary-length input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Bottom-sketch MinHash keeps only the m smallest hash values as the sketch S(A)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naive ratio |S(A)∩S(B)| / |S(A)∪S(B)| is biased — that denominator can reach 2m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Taking the bottom-m of the union instead yields an unbiased Ĵ, because bottom-m(A∪B) is a uniform random m-subset of the union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For fixed m, comparison cost is independent of sequence length — a guarantee FracMinHash deliberately trades away (next slide)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2A7A5F-D894-4732-ABEA-4E21D06E700D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74923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8F2605-D17C-4507-8C64-59C71F1D6E4C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Definitions &amp; Estimator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EF9027D-DEE7-4738-BCE9-95C287DB1D73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K(A) = { A[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i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..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i+k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) : 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i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= 1..L−k+1 }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11B9F6-5FB0-4270-8ACC-58C676DB2965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h : Σᵏ → [0, H)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AB30AF-B76A-4EBA-935B-1C7AF78DB713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S(A) = bottom-m { h(κ) : κ ∈ K(A) }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AEBDB7-5556-4364-AE47-298FFC3FB339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71323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U = bottom-m( S(A) ∪ S(B) )</a:t>
            </a:r>
          </a:p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Ĵ(A,B) = |U ∩ S(A) ∩ S(B)| / m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8ED2B81-2588-454E-B341-40435C0FDF08}"/>
              </a:ext>
            </a:extLst>
          </p:cNvPr>
          <p:cNvSpPr>
            <a:spLocks noGrp="1"/>
          </p:cNvSpPr>
          <p:nvPr/>
        </p:nvSpPr>
        <p:spPr>
          <a:xfrm>
            <a:off x="6309360" y="4114800"/>
            <a:ext cx="5120640" cy="178308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buNone/>
            </a:pPr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Restricting to the bottom-m of the union makes Ĵ unbiased for J(A,B) = |K(A)∩K(B)| / |K(A)∪K(B)| under an idealised uniform hash; variance shrinks as m grows.</a:t>
            </a:r>
          </a:p>
          <a:p>
            <a:pPr marL="0" indent="0">
              <a:buNone/>
            </a:pPr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/>
            </a:r>
            <a:endParaRPr sz="1100" i="1" dirty="0">
              <a:solidFill>
                <a:srgbClr val="5A6B7A"/>
              </a:solidFill>
              <a:latin typeface="Calibri"/>
              <a:ea typeface="Calibri"/>
              <a:cs typeface="Calibri"/>
            </a:endParaRPr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An example：</a:t>
            </a:r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/>
            </a:r>
            <a:endParaRPr sz="1100" dirty="0"/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H(A)={82,15,47,31,66,24}</a:t>
            </a:r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Sorting：15, 24, 31, 47, 66, 82</a:t>
            </a:r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/>
            </a:r>
            <a:endParaRPr sz="1100" dirty="0"/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S(A) = bottom-1(H(A))={15}</a:t>
            </a:r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S(A) = bottom-2(H(A))={15,24}</a:t>
            </a:r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S(A) = bottom-3(H(A))={15,24,31}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F95C921-E2A2-411B-8078-C1909E62AB4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C6EBC1-4E69-45CA-8366-EB52EFF5C088}"/>
              </a:ext>
            </a:extLst>
          </p:cNvPr>
          <p:cNvSpPr>
            <a:spLocks noGrp="1"/>
          </p:cNvSpPr>
          <p:nvPr/>
        </p:nvSpPr>
        <p:spPr>
          <a:xfrm>
            <a:off x="334297" y="431268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957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8B9DFC7-B398-40EC-AF5C-1ACFC6266805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∩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B96EAF-A974-405D-A044-145D2B3C6251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FracMinHash &amp; Containment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AF640E-B0B8-4645-923F-5A3B04080919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sourmash's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Scaled Sketching Strategy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E4B0B1-584F-49F0-82B0-A1EDD7BEC5F9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3DD8B58-B345-4F94-B103-875BA0E538BE}"/>
              </a:ext>
            </a:extLst>
          </p:cNvPr>
          <p:cNvSpPr>
            <a:spLocks noGrp="1"/>
          </p:cNvSpPr>
          <p:nvPr/>
        </p:nvSpPr>
        <p:spPr>
          <a:xfrm>
            <a:off x="457200" y="1600199"/>
            <a:ext cx="5394960" cy="478231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Fixed-size MinHash distorts comparisons between very differently sized sequences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FracMinHash keeps every hash below a threshold H/s (“scaled sketching”)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Sketch size scales with length: fixed-m cost is traded for cross-scale comparability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Containment suits novelty better than Jaccard: how much of a query the viral DB explains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Ĉ carries a small-sketch bias; we use the Hera et al. (2023) debiased estimator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80E1B8-7203-4DFD-B741-7E60A0E197DA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CBACCAB-9BCB-445E-A610-138C9CEFC492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b="1" dirty="0" sz="16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Scaled Sketching &amp; Containment Estimator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D9A83F-267D-41E4-A221-87BF7E340508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S(A) = { h(κ) : h(κ) &lt; H/s }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25777B-5F17-473D-8BDF-EBA7C7C56CB2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Ĉ(A,B) = |S(A)∩S(B)| / |S(A)|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17A692E-8A99-498D-AFEA-A62027F60C65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    ≈  C(A,B) = |K(A)∩K(B)| / |K(A)|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6B4F1D-48E5-4248-A138-F191530C0394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Var[Ĉ] ≈ C(1−C) / |S(A)|    (1st-order)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E54F5D-71C9-4190-8034-91DD39CC3A01}"/>
              </a:ext>
            </a:extLst>
          </p:cNvPr>
          <p:cNvSpPr>
            <a:spLocks noGrp="1"/>
          </p:cNvSpPr>
          <p:nvPr/>
        </p:nvSpPr>
        <p:spPr>
          <a:xfrm>
            <a:off x="6309360" y="3849624"/>
            <a:ext cx="5120640" cy="1311099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600" b="1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Low Ĉ(query, known viral DB) → high nucleotide-level novelty. The binomial variance is a first-order approximation only: |S(A)| is itself random and Ĉ carries a small-sketch bias, so operational confidence intervals use the debiased estimator.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CB25BCD-F446-4C04-B59E-314B9BA7B025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33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97" y="4956048"/>
            <a:ext cx="3628988" cy="165581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333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1129D1EE-8723-44F6-A0D7-BAD9C627B49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ℝ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2DEB33-7CC5-4D7A-B8AB-2138925EF54E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Embedding-Space Geometry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6A6D18-8CA7-4B58-B829-C0815C18B144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Protein Embeddings &amp; Outlier Detection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20DF856-6703-480A-A143-ECDA28A38622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32A6A6-EABE-4AAC-8810-8EDEEC6746A9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94960" cy="321168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Six-frame ORF prediction → encode each ORF with a protein language model (ESM-2)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Nucleotide sequence can diverge past recognition, yet capsid/polymerase fold may not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We score local density on the known-viral manifold, not a classifier boundary — recovering what Channel A cannot see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At d ≈ 1280 kNN distances concentrate, so we use cosine distance on L2-normalised embeddings and PCA before LOF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0074FEF-9DA5-41D0-B527-43ACB773974A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5D354A-CE8D-4DA5-BD5D-4EE0C5286EB4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b="1" dirty="0" sz="16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Local Density &amp; Outlier Score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BD002C-0B2E-459C-B3D9-C6AA9B1F8C6B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ORF → e ∈ R^d    (d ≈ 1280)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571DE7F-CD42-41BA-93BA-0349FE48DDBC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reach_κ(e,o) = max( κ-dist(o), d(e,o) 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10FE16B-C99E-4F1D-8EE2-C85B639EB313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84124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lrd_κ(e) = 1 / avg_o reach_κ(e,o)</a:t>
            </a:r>
          </a:p>
          <a:p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LOF_κ(e) = avg_o lrd_κ(o) / lrd_κ(e)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704E7E-9274-4A1F-9156-7C15BB174C15}"/>
              </a:ext>
            </a:extLst>
          </p:cNvPr>
          <p:cNvSpPr>
            <a:spLocks noGrp="1"/>
          </p:cNvSpPr>
          <p:nvPr/>
        </p:nvSpPr>
        <p:spPr>
          <a:xfrm>
            <a:off x="6309360" y="3968496"/>
            <a:ext cx="5120640" cy="19202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κ: number of nearest neighbours, e.g. 20 — distinct from the k-mer length k;</a:t>
            </a: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/>
            </a:r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κ-dist(o): distance from o to its κ-th nearest neighbour;</a:t>
            </a: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/>
            </a:r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reach_κ(e,o): reachability distance, floored at κ-dist(o);</a:t>
            </a: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/>
            </a:r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lrd_κ(e): local reachability density of e;</a:t>
            </a: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/>
            </a:r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o ranges over N_κ(e), the κ nearest neighbours of e;</a:t>
            </a: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/>
            </a:r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d(·,·): cosine distance on L2-normalised embeddings.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0A5710D-B120-4038-B67C-F598A131E91A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36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928744"/>
            <a:ext cx="2123768" cy="123298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F17772A-0A55-465A-8384-CDDD08A345D8}"/>
              </a:ext>
            </a:extLst>
          </p:cNvPr>
          <p:cNvSpPr>
            <a:spLocks noGrp="1"/>
          </p:cNvSpPr>
          <p:nvPr/>
        </p:nvSpPr>
        <p:spPr>
          <a:xfrm>
            <a:off x="277270" y="6312838"/>
            <a:ext cx="10612939" cy="30777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LOF_κ(e) ≈ 1 means e sits at its neighbours' density; LOF_κ(e) ≫ 1 means the candidate fold is isolated within known viral space.</a:t>
            </a:r>
          </a:p>
        </p:txBody>
      </p:sp>
      <p:pic>
        <p:nvPicPr>
          <p:cNvPr id="39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681" y="5091648"/>
            <a:ext cx="3372479" cy="76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7F80D129-7F95-4B74-9086-A21F82AFEAEE}"/>
              </a:ext>
            </a:extLst>
          </p:cNvPr>
          <p:cNvSpPr>
            <a:spLocks noGrp="1"/>
          </p:cNvSpPr>
          <p:nvPr/>
        </p:nvSpPr>
        <p:spPr>
          <a:xfrm>
            <a:off x="604172" y="1455547"/>
            <a:ext cx="5537168" cy="12055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dirty="0">
                <a:solidFill>
                  <a:srgbClr val="1C7293"/>
                </a:solidFill>
                <a:latin typeface="Calibri"/>
                <a:ea typeface="Arial"/>
                <a:cs typeface="Arial"/>
              </a:rPr>
              <a:t>Core idea
</a:t>
            </a:r>
            <a:r>
              <a:rPr sz="2025" b="0" dirty="0">
                <a:solidFill>
                  <a:srgbClr val="0B2545"/>
                </a:solidFill>
                <a:latin typeface="Calibri"/>
                <a:ea typeface="Arial"/>
                <a:cs typeface="Arial"/>
              </a:rPr>
              <a:t>Learn a flexible score-to-probability map while preserving order.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3824F8CA-DA0E-41B4-B7B5-BA177BA30FFE}"/>
              </a:ext>
            </a:extLst>
          </p:cNvPr>
          <p:cNvSpPr>
            <a:spLocks noGrp="1"/>
          </p:cNvSpPr>
          <p:nvPr/>
        </p:nvSpPr>
        <p:spPr>
          <a:xfrm>
            <a:off x="6965723" y="1993288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dirty="0">
                <a:solidFill>
                  <a:srgbClr val="0B2545"/>
                </a:solidFill>
                <a:latin typeface="Calibri"/>
                <a:ea typeface="Arial"/>
                <a:cs typeface="Arial"/>
              </a:rPr>
              <a:t>Input: scalar model or fusion scores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2D032CB3-6E5C-4FE2-B6E8-C3D464D3519D}"/>
              </a:ext>
            </a:extLst>
          </p:cNvPr>
          <p:cNvSpPr>
            <a:spLocks noGrp="1"/>
          </p:cNvSpPr>
          <p:nvPr/>
        </p:nvSpPr>
        <p:spPr>
          <a:xfrm>
            <a:off x="6586723" y="201814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FD9507F8-52BA-4687-9C3E-DDC7D2481F0C}"/>
              </a:ext>
            </a:extLst>
          </p:cNvPr>
          <p:cNvSpPr>
            <a:spLocks noGrp="1"/>
          </p:cNvSpPr>
          <p:nvPr/>
        </p:nvSpPr>
        <p:spPr>
          <a:xfrm>
            <a:off x="604172" y="2990279"/>
            <a:ext cx="5537168" cy="2884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dirty="0">
                <a:solidFill>
                  <a:srgbClr val="0B2545"/>
                </a:solidFill>
                <a:latin typeface="Calibri"/>
                <a:ea typeface="Arial"/>
                <a:cs typeface="Arial"/>
              </a:rPr>
              <a:t>Calibration data:  </a:t>
            </a:r>
            <a:r>
              <a:rPr sz="1575" b="0" dirty="0">
                <a:solidFill>
                  <a:srgbClr val="0B2545"/>
                </a:solidFill>
                <a:latin typeface="Calibri"/>
                <a:ea typeface="Arial"/>
                <a:cs typeface="Arial"/>
              </a:rPr>
              <a:t>(score, label)
(1,0), (2,0), (3,1), (4,0), (5,1), (6,1)
</a:t>
            </a:r>
            <a:r>
              <a:rPr sz="1575" b="1" dirty="0">
                <a:solidFill>
                  <a:srgbClr val="1C7293"/>
                </a:solidFill>
                <a:latin typeface="Calibri"/>
                <a:ea typeface="Arial"/>
                <a:cs typeface="Arial"/>
              </a:rPr>
              <a:t>Monotonic constraint:  </a:t>
            </a:r>
            <a:r>
              <a:rPr sz="1575" b="0" dirty="0">
                <a:solidFill>
                  <a:srgbClr val="0B2545"/>
                </a:solidFill>
                <a:latin typeface="Calibri"/>
                <a:ea typeface="Arial"/>
                <a:cs typeface="Arial"/>
              </a:rPr>
              <a:t>sᵢ ≤ sⱼ  ⇒  g(sᵢ) ≤ g(sⱼ)
</a:t>
            </a:r>
            <a:r>
              <a:rPr sz="1575" b="1" dirty="0">
                <a:solidFill>
                  <a:srgbClr val="0B2545"/>
                </a:solidFill>
                <a:latin typeface="Calibri"/>
                <a:ea typeface="Arial"/>
                <a:cs typeface="Arial"/>
              </a:rPr>
              <a:t>PAVA pools the violation 1 → 0:
</a:t>
            </a:r>
            <a:r>
              <a:rPr sz="1575" b="0" dirty="0">
                <a:solidFill>
                  <a:srgbClr val="0B2545"/>
                </a:solidFill>
                <a:latin typeface="Calibri"/>
                <a:ea typeface="Arial"/>
                <a:cs typeface="Arial"/>
              </a:rPr>
              <a:t>0, 0, 1, 0, 1, 1  →  0, 0, 0.5, 0.5, 1, 1</a:t>
            </a:r>
          </a:p>
          <a:p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66883E4A-3060-4240-ADFB-4939FEB6DD14}"/>
              </a:ext>
            </a:extLst>
          </p:cNvPr>
          <p:cNvSpPr>
            <a:spLocks noGrp="1"/>
          </p:cNvSpPr>
          <p:nvPr/>
        </p:nvSpPr>
        <p:spPr>
          <a:xfrm>
            <a:off x="6965723" y="2602888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2545"/>
                </a:solidFill>
                <a:latin typeface="Calibri"/>
                <a:ea typeface="Arial"/>
                <a:cs typeface="Arial"/>
              </a:rPr>
              <a:t>Ground truth: binary labels from calibration data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DB81EE36-84C6-44DA-8230-D24E9704334E}"/>
              </a:ext>
            </a:extLst>
          </p:cNvPr>
          <p:cNvSpPr>
            <a:spLocks noGrp="1"/>
          </p:cNvSpPr>
          <p:nvPr/>
        </p:nvSpPr>
        <p:spPr>
          <a:xfrm>
            <a:off x="6586723" y="262774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E668D899-6C7A-43E1-96CE-E0F598082B34}"/>
              </a:ext>
            </a:extLst>
          </p:cNvPr>
          <p:cNvSpPr>
            <a:spLocks noGrp="1"/>
          </p:cNvSpPr>
          <p:nvPr/>
        </p:nvSpPr>
        <p:spPr>
          <a:xfrm>
            <a:off x="6965723" y="3217822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2545"/>
                </a:solidFill>
                <a:latin typeface="Calibri"/>
                <a:ea typeface="Arial"/>
                <a:cs typeface="Arial"/>
              </a:rPr>
              <a:t>Fit: best non-decreasing step function g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7F72FE4A-FBAE-4EB7-9897-F29B583AA2AA}"/>
              </a:ext>
            </a:extLst>
          </p:cNvPr>
          <p:cNvSpPr>
            <a:spLocks noGrp="1"/>
          </p:cNvSpPr>
          <p:nvPr/>
        </p:nvSpPr>
        <p:spPr>
          <a:xfrm>
            <a:off x="6586723" y="3242587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6E3909C2-18F5-4D9A-80DE-0B48F7123C32}"/>
              </a:ext>
            </a:extLst>
          </p:cNvPr>
          <p:cNvSpPr>
            <a:spLocks noGrp="1"/>
          </p:cNvSpPr>
          <p:nvPr/>
        </p:nvSpPr>
        <p:spPr>
          <a:xfrm>
            <a:off x="6965723" y="3827326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2545"/>
                </a:solidFill>
                <a:latin typeface="Calibri"/>
                <a:ea typeface="Arial"/>
                <a:cs typeface="Arial"/>
              </a:rPr>
              <a:t>Algorithm: Pool-Adjacent-Violators (PAVA)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0077EA72-CD7C-4817-BE0B-5A8B0C32F657}"/>
              </a:ext>
            </a:extLst>
          </p:cNvPr>
          <p:cNvSpPr>
            <a:spLocks noGrp="1"/>
          </p:cNvSpPr>
          <p:nvPr/>
        </p:nvSpPr>
        <p:spPr>
          <a:xfrm>
            <a:off x="6586723" y="3852187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6BF70513-7BF1-4105-838C-81D23816F3AF}"/>
              </a:ext>
            </a:extLst>
          </p:cNvPr>
          <p:cNvSpPr>
            <a:spLocks noGrp="1"/>
          </p:cNvSpPr>
          <p:nvPr/>
        </p:nvSpPr>
        <p:spPr>
          <a:xfrm>
            <a:off x="6965723" y="4449690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2545"/>
                </a:solidFill>
                <a:latin typeface="Calibri"/>
                <a:ea typeface="Arial"/>
                <a:cs typeface="Arial"/>
              </a:rPr>
              <a:t>Output: empirical P(Y = 1 | score)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8E24F593-86FF-4745-BE93-8C8F3D937230}"/>
              </a:ext>
            </a:extLst>
          </p:cNvPr>
          <p:cNvSpPr>
            <a:spLocks noGrp="1"/>
          </p:cNvSpPr>
          <p:nvPr/>
        </p:nvSpPr>
        <p:spPr>
          <a:xfrm>
            <a:off x="6586723" y="4474550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6BF24F-5F51-4E72-9DE1-75C6C10F619A}"/>
              </a:ext>
            </a:extLst>
          </p:cNvPr>
          <p:cNvSpPr>
            <a:spLocks noGrp="1"/>
          </p:cNvSpPr>
          <p:nvPr/>
        </p:nvSpPr>
        <p:spPr>
          <a:xfrm>
            <a:off x="5848175" y="3244334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9FE6D-645E-40B6-A244-BA93257E4830}"/>
              </a:ext>
            </a:extLst>
          </p:cNvPr>
          <p:cNvSpPr>
            <a:spLocks noGrp="1"/>
          </p:cNvSpPr>
          <p:nvPr/>
        </p:nvSpPr>
        <p:spPr>
          <a:xfrm>
            <a:off x="5848175" y="3244334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↗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4CECE51-5976-44F8-B4B6-AA7498FB0AAA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45D99FD7-4836-4E23-B326-7B8EE88D23B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561981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Isotonic Regression</a:t>
            </a:r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CCF3233F-9DD7-4D57-AE6B-77ADA2BBAF8F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5486A276-4B4F-414D-917A-ADDA3124389C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25" name="TextBox 24"/>
          <p:cNvSpPr txBox="1"/>
          <p:nvPr/>
        </p:nvSpPr>
        <p:spPr>
          <a:xfrm>
            <a:off x="603504" y="55321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A6B7A"/>
                </a:solidFill>
                <a:latin typeface="Calibri"/>
              </a:rPr>
              <a:t>Caveats: isotonic regression can overfit small calibration sets, returns a coarse step function, and cannot extrapolate beyond the calibrated score range. We benchmark it against Platt scaling and beta calibration, selecting by cross-validated Brier score.</a:t>
            </a:r>
          </a:p>
        </p:txBody>
      </p:sp>
    </p:spTree>
    <p:extLst>
      <p:ext uri="{BB962C8B-B14F-4D97-AF65-F5344CB8AC3E}">
        <p14:creationId xmlns:p14="http://schemas.microsoft.com/office/powerpoint/2010/main" val="167554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A24404-CFCA-4D25-95DE-EA33345C35F0}"/>
              </a:ext>
            </a:extLst>
          </p:cNvPr>
          <p:cNvSpPr>
            <a:spLocks noGrp="1"/>
          </p:cNvSpPr>
          <p:nvPr/>
        </p:nvSpPr>
        <p:spPr>
          <a:xfrm>
            <a:off x="9281160" y="457200"/>
            <a:ext cx="2450592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/>
          <a:p/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79B887-55E2-4C27-9E07-718EE706A359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↗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A70388-C613-4392-99F6-09AA72D05AF2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CF7281-77C2-49D8-B5A4-C0D8EEFC142C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Aligning Channel A and B Before Fusion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583C30-ECC4-4DD8-8241-7E3442A08AC0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BF3011-C848-4414-B458-246FED46E2D3}"/>
              </a:ext>
            </a:extLst>
          </p:cNvPr>
          <p:cNvSpPr>
            <a:spLocks noGrp="1"/>
          </p:cNvSpPr>
          <p:nvPr/>
        </p:nvSpPr>
        <p:spPr>
          <a:xfrm>
            <a:off x="457199" y="1600200"/>
            <a:ext cx="5695827" cy="44805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r>
              <a:rPr sz="1400" b="1" dirty="0"/>
              <a:t>Level Alignment Before Fusion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sz="1600" dirty="0"/>
              <a:t>Channel A scores contigs, whereas Channel B initially scores individual ORFs. 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sz="1600" dirty="0"/>
              <a:t>Aggregate Channel B ORF evidence within each contig using prespecified features such as the maximum, top-q mean, and high-score proportion. 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sz="1600" dirty="0"/>
              <a:t>Pair the Channel A score and aggregated Channel B evidence with the same contig-level held-out-lineage label (slide 12). 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sz="1600" dirty="0"/>
              <a:t>These aligned features—not separately calibrated probabilities—enter the fusion model. 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sz="1600" dirty="0"/>
              <a:t>Output: one aligned evidence vector for each contig.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50DABFB-E152-413D-9FAE-004413623B9A}"/>
              </a:ext>
            </a:extLst>
          </p:cNvPr>
          <p:cNvSpPr>
            <a:spLocks noGrp="1"/>
          </p:cNvSpPr>
          <p:nvPr/>
        </p:nvSpPr>
        <p:spPr>
          <a:xfrm>
            <a:off x="6247416" y="1600200"/>
            <a:ext cx="5456903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742217-E7A2-4A16-A8B4-658BC8629ABF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Contig-Level Feature Construction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05A66B-398F-4971-BBAC-AEB71995512B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x_A(c) = 1 − Ĉ(c, D_viral)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E3CE1B5-C5FA-4C1D-9250-35571F9B288C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x_B(c) = Aggregate{ LOF_κ(o) : o ∈ O(c) }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E3121F-A3EC-4877-A7DE-FFC5B667A2D2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X_c = [ x_A(c), x_B(c), length, ORF count ]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A0CE36E-ECC5-4AAB-9A1A-94B19F53D183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Target: y_c = predefined contig-level truth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F082640-A1B7-48A0-96DF-B13DEF2F3D32}"/>
              </a:ext>
            </a:extLst>
          </p:cNvPr>
          <p:cNvSpPr>
            <a:spLocks noGrp="1"/>
          </p:cNvSpPr>
          <p:nvPr/>
        </p:nvSpPr>
        <p:spPr>
          <a:xfrm>
            <a:off x="6309360" y="3849624"/>
            <a:ext cx="5120640" cy="140817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6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Ĉ(c, D_viral) is the FracMinHash containment of contig c against the known viral database (slide 7); LOF_κ is the local outlier factor of slide 8. Level alignment prevents ORF-level and contig-level quantities from being pooled as if they were the same statistical unit.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901660-ED55-41D6-8E53-4E52A1474C65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286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321EB1E5-9EFA-4A16-8A75-D91CDF66D4DF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σ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815A90-BF8C-4666-9821-2DE27FBB090B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Novelty and Concern Score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D13863-2C12-47D3-B774-0D834BB93A12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Fusion, Final Calibration &amp; Reliability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B056029-9730-458F-848D-6796D79A017B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A3CCC6-057E-4C94-96E9-6EC77AA8FCBF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94960" cy="44805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Logistic regression combines aligned contig-level evidence and its interaction into a scalar fusion score </a:t>
            </a:r>
            <a:r>
              <a:rPr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z_c</a:t>
            </a:r>
            <a:endParaRPr dirty="0">
              <a:solidFill>
                <a:srgbClr val="0B2545"/>
              </a:solidFill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logistic output is treated as a fusion score—not automatically as a calibrated probability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Isotonic regression fitted on an independent calibration set maps </a:t>
            </a:r>
            <a:r>
              <a:rPr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z_c</a:t>
            </a: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 to the final NCS (</a:t>
            </a:r>
            <a:r>
              <a:rPr b="1" dirty="0"/>
              <a:t>Novelty and Concern Score</a:t>
            </a: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) probability.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Reliability diagram: predicted-probability bins vs. observed positive rates on independent test data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Brier score measures mean squared probabilistic error—lower is better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BC186F-EBD5-4AE1-BE20-A4B74F8804B2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061564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8002F6-E7DA-4F58-80E3-2A8B928F53DF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b="1" dirty="0" sz="16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Fusion → Calibration → Diagnostics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58DB1F-4B2B-4AE1-B58E-7834F1E861CA}"/>
              </a:ext>
            </a:extLst>
          </p:cNvPr>
          <p:cNvSpPr>
            <a:spLocks noGrp="1"/>
          </p:cNvSpPr>
          <p:nvPr/>
        </p:nvSpPr>
        <p:spPr>
          <a:xfrm>
            <a:off x="6309360" y="2624328"/>
            <a:ext cx="5120640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18FA7E-9F56-4930-98F4-0FE53B2237EF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6C2A3BB-0941-45E1-A47C-6359203203C9}"/>
              </a:ext>
            </a:extLst>
          </p:cNvPr>
          <p:cNvSpPr>
            <a:spLocks noGrp="1"/>
          </p:cNvSpPr>
          <p:nvPr/>
        </p:nvSpPr>
        <p:spPr>
          <a:xfrm>
            <a:off x="6309360" y="3932476"/>
            <a:ext cx="5120640" cy="16117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r>
              <a:rPr sz="1400" dirty="0"/>
              <a:t>BS (Brier score): The Brier score is an error metric used to evaluate the accuracy of probability predictions. A lower score indicates better performance.</a:t>
            </a:r>
          </a:p>
          <a:p>
            <a:pPr marL="0" indent="0">
              <a:buNone/>
            </a:pPr>
            <a:endParaRPr sz="1400" dirty="0"/>
          </a:p>
          <a:p>
            <a:pPr marL="0" indent="0">
              <a:buNone/>
            </a:pPr>
            <a:r>
              <a:rPr sz="1400" i="1" dirty="0">
                <a:latin typeface="Calibri"/>
                <a:ea typeface="Calibri"/>
                <a:cs typeface="Calibri"/>
              </a:rPr>
              <a:t>Fit fusion, calibration, and final reliability evaluation on separate data splits (or by nested cross-fitting) to avoid optimistic probabilities.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64C34A-F561-4CFA-95CD-EF9E7218C55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31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702" y="2118160"/>
            <a:ext cx="3829315" cy="170941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7319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 3">
            <a:extLst>
              <a:ext uri="{FF2B5EF4-FFF2-40B4-BE49-F238E27FC236}">
                <a16:creationId xmlns:a16="http://schemas.microsoft.com/office/drawing/2014/main" id="{0A7F8DB7-C374-427D-B20C-ED53C8673ED5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⊘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17D992-80D8-4A28-BD09-30ECE8CE9C54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Leakage-Safe Benchmark Design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174511-9FDC-434F-B4DD-46A2A741F47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Held-Out Lineages &amp; Honest Difficulty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59A245-DB5B-423B-867F-B4E3EB72A488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4B0049-A2CD-458C-AC92-1E761882C2EA}"/>
              </a:ext>
            </a:extLst>
          </p:cNvPr>
          <p:cNvSpPr>
            <a:spLocks noGrp="1"/>
          </p:cNvSpPr>
          <p:nvPr/>
        </p:nvSpPr>
        <p:spPr>
          <a:xfrm>
            <a:off x="457200" y="1481329"/>
            <a:ext cx="5394960" cy="520293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In-silico spike-ins flatter any method whose reference DB still contains the spiked genome's relatives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Leave-one-clade-out: remove the entire clade of the spiked genome from every reference, sketch, and training set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Difficulty is indexed by distance to the nearest retained neighbour, not by a binary novel/known label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Time-split: fit and calibrate only on sequences deposited before date T, evaluate strictly on those after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Backgrounds are real wastewater (CASPER, NWSS, Tisza 2023, Wolfe 2026) — not simulated communities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2A7A5F-D894-4732-ABEA-4E21D06E700D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74923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8F2605-D17C-4507-8C64-59C71F1D6E4C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Leakage Control &amp; Difficulty Strata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EF9027D-DEE7-4738-BCE9-95C287DB1D73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D_train(T) = { x : deposit(x) &lt; T }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11B9F6-5FB0-4270-8ACC-58C676DB2965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clade(g) ∩ D_train = ∅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AB30AF-B76A-4EBA-935B-1C7AF78DB713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δ(g) = ANI( g, NN(g, D_train) )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AEBDB7-5556-4364-AE47-298FFC3FB339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71323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strata: δ ≥ 90 | 80–90 | 70–80 | &lt; 70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8ED2B81-2588-454E-B341-40435C0FDF08}"/>
              </a:ext>
            </a:extLst>
          </p:cNvPr>
          <p:cNvSpPr>
            <a:spLocks noGrp="1"/>
          </p:cNvSpPr>
          <p:nvPr/>
        </p:nvSpPr>
        <p:spPr>
          <a:xfrm>
            <a:off x="6309360" y="4114800"/>
            <a:ext cx="5120640" cy="178308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buNone/>
            </a:pPr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Performance is reported per stratum, never pooled. Pooling hides the only regime that matters: a method can look excellent on average while failing completely at δ &lt; 80%, which is exactly where a genuinely novel agent sits.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F95C921-E2A2-411B-8078-C1909E62AB4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 3">
            <a:extLst>
              <a:ext uri="{FF2B5EF4-FFF2-40B4-BE49-F238E27FC236}">
                <a16:creationId xmlns:a16="http://schemas.microsoft.com/office/drawing/2014/main" id="{0A7F8DB7-C374-427D-B20C-ED53C8673ED5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✓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17D992-80D8-4A28-BD09-30ECE8CE9C54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Validation &amp; Evaluation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174511-9FDC-434F-B4DD-46A2A741F47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AUPRC, False-Alert Burden &amp; Reliability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59A245-DB5B-423B-867F-B4E3EB72A488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4B0049-A2CD-458C-AC92-1E761882C2EA}"/>
              </a:ext>
            </a:extLst>
          </p:cNvPr>
          <p:cNvSpPr>
            <a:spLocks noGrp="1"/>
          </p:cNvSpPr>
          <p:nvPr/>
        </p:nvSpPr>
        <p:spPr>
          <a:xfrm>
            <a:off x="457200" y="1481329"/>
            <a:ext cx="5394960" cy="520293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Positives are a vanishing fraction of contigs, so ROC-AUC is misleadingly optimistic; AUPRC is the honest summary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operational quantity is not a rate but a workload — how many candidates per week must a human actually read?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threshold τ is derived from an analyst budget B, not from a default 0.5 cutoff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Ranking and calibration are evaluated separately: a well-ranked score can still be badly calibrated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Brier score decomposes into reliability, resolution, and uncertainty — we report the decomposition, not just the total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2A7A5F-D894-4732-ABEA-4E21D06E700D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74923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8F2605-D17C-4507-8C64-59C71F1D6E4C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Operating Point &amp; Reliability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EF9027D-DEE7-4738-BCE9-95C287DB1D73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AUPRC = ∫ Precision d(Recall)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11B9F6-5FB0-4270-8ACC-58C676DB2965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N_alert(τ) = n · P( NCS &gt; τ 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AB30AF-B76A-4EBA-935B-1C7AF78DB713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τ* = min { τ : N_alert(τ) ≤ B }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AEBDB7-5556-4364-AE47-298FFC3FB339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71323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BS = reliability − resolution + uncertainty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8ED2B81-2588-454E-B341-40435C0FDF08}"/>
              </a:ext>
            </a:extLst>
          </p:cNvPr>
          <p:cNvSpPr>
            <a:spLocks noGrp="1"/>
          </p:cNvSpPr>
          <p:nvPr/>
        </p:nvSpPr>
        <p:spPr>
          <a:xfrm>
            <a:off x="6309360" y="4114800"/>
            <a:ext cx="5120640" cy="178308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buNone/>
            </a:pPr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Reporting AUPRC without the analyst workload implied at the chosen threshold makes a method look deployable when it is not. τ* ties the statistical operating point directly to the staffing constraint the programme actually faces.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F95C921-E2A2-411B-8078-C1909E62AB4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CEA40E-5B7B-4A3F-B7FE-FF2212598F32}"/>
              </a:ext>
            </a:extLst>
          </p:cNvPr>
          <p:cNvSpPr>
            <a:spLocks noGrp="1"/>
          </p:cNvSpPr>
          <p:nvPr/>
        </p:nvSpPr>
        <p:spPr>
          <a:xfrm>
            <a:off x="393192" y="329184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b="1" sz="12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C20187-9FC0-4263-9A22-6466F4F09457}"/>
              </a:ext>
            </a:extLst>
          </p:cNvPr>
          <p:cNvSpPr>
            <a:spLocks noGrp="1"/>
          </p:cNvSpPr>
          <p:nvPr/>
        </p:nvSpPr>
        <p:spPr>
          <a:xfrm>
            <a:off x="393192" y="566928"/>
            <a:ext cx="10515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How Dual-Channel Evidence Becomes a Trusted Alert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D99066-3505-4049-B0DD-04BA6D7330C1}"/>
              </a:ext>
            </a:extLst>
          </p:cNvPr>
          <p:cNvSpPr>
            <a:spLocks noGrp="1"/>
          </p:cNvSpPr>
          <p:nvPr/>
        </p:nvSpPr>
        <p:spPr>
          <a:xfrm>
            <a:off x="697700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40092B-4F84-4CF0-B3F9-65B9526C8B9E}"/>
              </a:ext>
            </a:extLst>
          </p:cNvPr>
          <p:cNvSpPr>
            <a:spLocks noGrp="1"/>
          </p:cNvSpPr>
          <p:nvPr/>
        </p:nvSpPr>
        <p:spPr>
          <a:xfrm>
            <a:off x="834860" y="2130552"/>
            <a:ext cx="18105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Set Similarity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D45052-E1C9-40AF-A12E-61CCA609B1D7}"/>
              </a:ext>
            </a:extLst>
          </p:cNvPr>
          <p:cNvSpPr>
            <a:spLocks noGrp="1"/>
          </p:cNvSpPr>
          <p:nvPr/>
        </p:nvSpPr>
        <p:spPr>
          <a:xfrm>
            <a:off x="834860" y="2679192"/>
            <a:ext cx="1810512" cy="36262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00" dirty="0">
                <a:latin typeface="Calibri"/>
                <a:ea typeface="Calibri"/>
                <a:cs typeface="Calibri"/>
              </a:rPr>
              <a:t>k-</a:t>
            </a:r>
            <a:r>
              <a:rPr sz="1100" dirty="0" err="1">
                <a:latin typeface="Calibri"/>
                <a:ea typeface="Calibri"/>
                <a:cs typeface="Calibri"/>
              </a:rPr>
              <a:t>mer</a:t>
            </a:r>
            <a:r>
              <a:rPr sz="1100" dirty="0">
                <a:latin typeface="Calibri"/>
                <a:ea typeface="Calibri"/>
                <a:cs typeface="Calibri"/>
              </a:rPr>
              <a:t> / </a:t>
            </a:r>
            <a:r>
              <a:rPr sz="1100" dirty="0" err="1">
                <a:latin typeface="Calibri"/>
                <a:ea typeface="Calibri"/>
                <a:cs typeface="Calibri"/>
              </a:rPr>
              <a:t>FracMinHash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43FC90-20DC-4600-8F92-7DF6872DB650}"/>
              </a:ext>
            </a:extLst>
          </p:cNvPr>
          <p:cNvSpPr>
            <a:spLocks noGrp="1"/>
          </p:cNvSpPr>
          <p:nvPr/>
        </p:nvSpPr>
        <p:spPr>
          <a:xfrm>
            <a:off x="2782532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0A9B329-9530-43D8-934A-C61EDC89FE5D}"/>
              </a:ext>
            </a:extLst>
          </p:cNvPr>
          <p:cNvSpPr>
            <a:spLocks noGrp="1"/>
          </p:cNvSpPr>
          <p:nvPr/>
        </p:nvSpPr>
        <p:spPr>
          <a:xfrm>
            <a:off x="2947124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646BE3-7804-4BF5-8D20-C31C3F2963B1}"/>
              </a:ext>
            </a:extLst>
          </p:cNvPr>
          <p:cNvSpPr>
            <a:spLocks noGrp="1"/>
          </p:cNvSpPr>
          <p:nvPr/>
        </p:nvSpPr>
        <p:spPr>
          <a:xfrm>
            <a:off x="3084284" y="2130552"/>
            <a:ext cx="1862416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Embedding Geometry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181E3D-5C94-4F78-895D-45ABF85A0800}"/>
              </a:ext>
            </a:extLst>
          </p:cNvPr>
          <p:cNvSpPr>
            <a:spLocks noGrp="1"/>
          </p:cNvSpPr>
          <p:nvPr/>
        </p:nvSpPr>
        <p:spPr>
          <a:xfrm>
            <a:off x="3032314" y="2679192"/>
            <a:ext cx="1914386" cy="433526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00" dirty="0">
                <a:latin typeface="Calibri"/>
                <a:ea typeface="Calibri"/>
                <a:cs typeface="Calibri"/>
              </a:rPr>
              <a:t>ESM-2 + density outlier detection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7DCEA0-5558-412C-A298-63361BA70D92}"/>
              </a:ext>
            </a:extLst>
          </p:cNvPr>
          <p:cNvSpPr>
            <a:spLocks noGrp="1"/>
          </p:cNvSpPr>
          <p:nvPr/>
        </p:nvSpPr>
        <p:spPr>
          <a:xfrm>
            <a:off x="5031956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B5B410C-660A-4EC9-B3B6-38C3F1CB6631}"/>
              </a:ext>
            </a:extLst>
          </p:cNvPr>
          <p:cNvSpPr>
            <a:spLocks noGrp="1"/>
          </p:cNvSpPr>
          <p:nvPr/>
        </p:nvSpPr>
        <p:spPr>
          <a:xfrm>
            <a:off x="5196548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9E75910-0009-41A4-BF72-7A116F2ACA1C}"/>
              </a:ext>
            </a:extLst>
          </p:cNvPr>
          <p:cNvSpPr>
            <a:spLocks noGrp="1"/>
          </p:cNvSpPr>
          <p:nvPr/>
        </p:nvSpPr>
        <p:spPr>
          <a:xfrm>
            <a:off x="5333707" y="2130552"/>
            <a:ext cx="1895703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8F46DF-1369-4954-B678-B251C5C992C4}"/>
              </a:ext>
            </a:extLst>
          </p:cNvPr>
          <p:cNvSpPr>
            <a:spLocks noGrp="1"/>
          </p:cNvSpPr>
          <p:nvPr/>
        </p:nvSpPr>
        <p:spPr>
          <a:xfrm>
            <a:off x="5333708" y="2679192"/>
            <a:ext cx="1810512" cy="502419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00" dirty="0">
                <a:latin typeface="Calibri"/>
                <a:ea typeface="Calibri"/>
                <a:cs typeface="Calibri"/>
              </a:rPr>
              <a:t>Logistic fusion → isotonic → NCS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F58616-4D1D-4E58-AF41-D80306B48100}"/>
              </a:ext>
            </a:extLst>
          </p:cNvPr>
          <p:cNvSpPr>
            <a:spLocks noGrp="1"/>
          </p:cNvSpPr>
          <p:nvPr/>
        </p:nvSpPr>
        <p:spPr>
          <a:xfrm>
            <a:off x="7281380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60D4670-845B-4279-BEA7-5F0FF08A41C3}"/>
              </a:ext>
            </a:extLst>
          </p:cNvPr>
          <p:cNvSpPr>
            <a:spLocks noGrp="1"/>
          </p:cNvSpPr>
          <p:nvPr/>
        </p:nvSpPr>
        <p:spPr>
          <a:xfrm>
            <a:off x="7445972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3C33273-687E-4CDB-AB68-A5C12CCDA3D2}"/>
              </a:ext>
            </a:extLst>
          </p:cNvPr>
          <p:cNvSpPr>
            <a:spLocks noGrp="1"/>
          </p:cNvSpPr>
          <p:nvPr/>
        </p:nvSpPr>
        <p:spPr>
          <a:xfrm>
            <a:off x="7671303" y="2057401"/>
            <a:ext cx="18105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4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Reliability Evaluation</a:t>
            </a:r>
            <a:endParaRPr sz="1400" b="1" dirty="0">
              <a:solidFill>
                <a:srgbClr val="E8A3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D835041-2599-4349-BF8F-99A248120759}"/>
              </a:ext>
            </a:extLst>
          </p:cNvPr>
          <p:cNvSpPr>
            <a:spLocks noGrp="1"/>
          </p:cNvSpPr>
          <p:nvPr/>
        </p:nvSpPr>
        <p:spPr>
          <a:xfrm>
            <a:off x="7583132" y="2679192"/>
            <a:ext cx="1810512" cy="433526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altLang="zh-CN" sz="1100" dirty="0"/>
              <a:t>Computing </a:t>
            </a:r>
            <a:r>
              <a:rPr lang="en-US" sz="1100" dirty="0"/>
              <a:t>BS (Brier score)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274A0F8-8EDB-4CB9-A5FF-907CDC171697}"/>
              </a:ext>
            </a:extLst>
          </p:cNvPr>
          <p:cNvSpPr>
            <a:spLocks noGrp="1"/>
          </p:cNvSpPr>
          <p:nvPr/>
        </p:nvSpPr>
        <p:spPr>
          <a:xfrm>
            <a:off x="822960" y="3745908"/>
            <a:ext cx="10332720" cy="0"/>
          </a:xfrm>
          <a:prstGeom prst="line">
            <a:avLst/>
          </a:prstGeom>
          <a:noFill/>
          <a:ln w="12700">
            <a:solidFill>
              <a:srgbClr val="22456B"/>
            </a:solidFill>
            <a:prstDash val="solid"/>
          </a:ln>
        </p:spPr>
        <p:txBody>
          <a:bodyPr/>
          <a:p/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6AE141A-359F-4935-8CC2-DA6BBDED3ADC}"/>
              </a:ext>
            </a:extLst>
          </p:cNvPr>
          <p:cNvSpPr>
            <a:spLocks noGrp="1"/>
          </p:cNvSpPr>
          <p:nvPr/>
        </p:nvSpPr>
        <p:spPr>
          <a:xfrm>
            <a:off x="822960" y="4013089"/>
            <a:ext cx="10332720" cy="2399359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Every step produces an interpretable, auditable intermediate quantity — not a black-box score</a:t>
            </a:r>
          </a:p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Logistic fusion combines aligned contig-level evidence; isotonic regression calibrates the final NCS probability</a:t>
            </a:r>
          </a:p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Held-out-lineage and time-split benchmarks test whether the method generalizes to genuinely unseen viruses</a:t>
            </a:r>
          </a:p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The evidence-verified dossier converts a high NCS candidate into a reviewable, operational early-warning signal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038F092-4608-42ED-8244-C007CCCF9DA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C557EC4E-B741-4C56-B094-542868AE1D2E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p/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712BAF62-45E8-4CC9-A72E-DB0D5B2A13AE}"/>
              </a:ext>
            </a:extLst>
          </p:cNvPr>
          <p:cNvSpPr>
            <a:spLocks noGrp="1"/>
          </p:cNvSpPr>
          <p:nvPr/>
        </p:nvSpPr>
        <p:spPr>
          <a:xfrm>
            <a:off x="9756135" y="1948988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p/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09CC5DE-4071-49FB-913E-F3C15EF26085}"/>
              </a:ext>
            </a:extLst>
          </p:cNvPr>
          <p:cNvSpPr>
            <a:spLocks noGrp="1"/>
          </p:cNvSpPr>
          <p:nvPr/>
        </p:nvSpPr>
        <p:spPr>
          <a:xfrm>
            <a:off x="9539573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378A5E70-4AEB-47BF-9C88-E2B68C9207E1}"/>
              </a:ext>
            </a:extLst>
          </p:cNvPr>
          <p:cNvSpPr>
            <a:spLocks noGrp="1"/>
          </p:cNvSpPr>
          <p:nvPr/>
        </p:nvSpPr>
        <p:spPr>
          <a:xfrm>
            <a:off x="10045987" y="2010114"/>
            <a:ext cx="1566818" cy="43590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Trusted Alert</a:t>
            </a:r>
            <a:endParaRPr b="1" dirty="0">
              <a:solidFill>
                <a:srgbClr val="E8A33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F6F92F7-195E-4A9E-83AF-9F30492EE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6518" y="2446020"/>
            <a:ext cx="524066" cy="8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8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1846</Words>
  <Application>Microsoft Office PowerPoint</Application>
  <DocSecurity>0</DocSecurity>
  <PresentationFormat>Widescreen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等线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Sihua Peng</cp:lastModifiedBy>
  <cp:revision>18</cp:revision>
  <dcterms:created xsi:type="dcterms:W3CDTF">2026-07-27T19:34:00Z</dcterms:created>
  <dcterms:modified xsi:type="dcterms:W3CDTF">2026-07-27T20:56:22Z</dcterms:modified>
</cp:coreProperties>
</file>