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Barlow, Bartholomew, Bremner &amp; Brunk. Statistical Inference under Order Restrictions. Wiley, 1972.</a:t>
            </a:r>
          </a:p>
          <a:p>
            <a:r>
              <a:t>- scikit-learn documentation: IsotonicRegression.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- Breunig et al. LOF: Identifying Density-Based Local Outliers. SIGMOD, 2000.
- Barlow et al. Statistical Inference under Order Restrictions. Wiley, 1972.
- scikit-learn documentation: LogisticRegression, IsotonicRegression, calibration curves, and Brier score.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
[Sources]
- Breunig et al. LOF: Identifying Density-Based Local Outliers. SIGMOD, 2000.
- Barlow et al. Statistical Inference under Order Restrictions. Wiley, 1972.
- scikit-learn documentation: LogisticRegression, IsotonicRegression, calibration curves, and Brier score.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0A4A4F1F-2BFF-4B1C-A742-7D899DB58AE7}"/>
              </a:ext>
            </a:extLst>
          </p:cNvPr>
          <p:cNvSpPr>
            <a:spLocks noGrp="1"/>
          </p:cNvSpPr>
          <p:nvPr/>
        </p:nvSpPr>
        <p:spPr>
          <a:xfrm>
            <a:off x="822960" y="166106"/>
            <a:ext cx="10058400" cy="2439933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BLUEPRINT BIOSECURITY  ·  PATHOGEN-AGNOSTIC BIOTHREAT DETECTION RFP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F902C9-58A0-4C8E-B9C0-35F7DCD66023}"/>
              </a:ext>
            </a:extLst>
          </p:cNvPr>
          <p:cNvSpPr>
            <a:spLocks noGrp="1"/>
          </p:cNvSpPr>
          <p:nvPr/>
        </p:nvSpPr>
        <p:spPr>
          <a:xfrm>
            <a:off x="777240" y="1600200"/>
            <a:ext cx="10313972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000" b="1">
                <a:latin typeface="Cambria"/>
                <a:ea typeface="Cambria"/>
                <a:cs typeface="Cambria"/>
              </a:rPr>
              <a:t>Proposal 1: NOVA-MGS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FD5D66-DDE6-47F3-BD53-C3856445FCF0}"/>
              </a:ext>
            </a:extLst>
          </p:cNvPr>
          <p:cNvSpPr>
            <a:spLocks noGrp="1"/>
          </p:cNvSpPr>
          <p:nvPr/>
        </p:nvSpPr>
        <p:spPr>
          <a:xfrm>
            <a:off x="822960" y="2606040"/>
            <a:ext cx="10424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800">
                <a:latin typeface="Cambria"/>
                <a:ea typeface="Cambria"/>
                <a:cs typeface="Cambria"/>
              </a:rPr>
              <a:t>Mathematical Foundations of Metagenomic Pathogen Detection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86FD06D-ECF8-4861-B75B-94A2C0381338}"/>
              </a:ext>
            </a:extLst>
          </p:cNvPr>
          <p:cNvSpPr>
            <a:spLocks noGrp="1"/>
          </p:cNvSpPr>
          <p:nvPr/>
        </p:nvSpPr>
        <p:spPr>
          <a:xfrm>
            <a:off x="822960" y="3457946"/>
            <a:ext cx="10058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000" i="1">
                <a:latin typeface="Calibri"/>
                <a:ea typeface="Calibri"/>
                <a:cs typeface="Calibri"/>
              </a:rPr>
              <a:t>Reference-free novelty scoring, probabilistic calibration, and evidence verification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DD529F0-0908-443B-ACF3-47D8F1D04B2C}"/>
              </a:ext>
            </a:extLst>
          </p:cNvPr>
          <p:cNvSpPr>
            <a:spLocks noGrp="1"/>
          </p:cNvSpPr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114E8FE-FF39-486F-A936-D430F8A20FDB}"/>
              </a:ext>
            </a:extLst>
          </p:cNvPr>
          <p:cNvSpPr>
            <a:spLocks noGrp="1"/>
          </p:cNvSpPr>
          <p:nvPr/>
        </p:nvSpPr>
        <p:spPr>
          <a:xfrm>
            <a:off x="822960" y="5257800"/>
            <a:ext cx="7315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15000"/>
              </a:lnSpc>
              <a:buNone/>
            </a:pPr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80E2E52-5867-49E1-95C5-44C86BE89115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EACB411-96AD-4091-BD09-BE34FF6EA966}"/>
              </a:ext>
            </a:extLst>
          </p:cNvPr>
          <p:cNvSpPr>
            <a:spLocks noGrp="1"/>
          </p:cNvSpPr>
          <p:nvPr/>
        </p:nvSpPr>
        <p:spPr>
          <a:xfrm>
            <a:off x="1534525" y="4434841"/>
            <a:ext cx="214873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i="1">
                <a:latin typeface="Calibri"/>
                <a:ea typeface="Calibri"/>
                <a:cs typeface="Calibri"/>
              </a:rPr>
              <a:t>Sihua Peng, 07/27/2026 </a:t>
            </a:r>
          </a:p>
        </p:txBody>
      </p:sp>
    </p:spTree>
    <p:extLst>
      <p:ext uri="{BB962C8B-B14F-4D97-AF65-F5344CB8AC3E}">
        <p14:creationId xmlns:p14="http://schemas.microsoft.com/office/powerpoint/2010/main" val="1949827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6005634-2505-48F2-A3A1-AADE1E345FD0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Σ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3C9413-BD1E-4E8D-A407-B6EE824DC491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38FD864-365E-4F32-9A72-C2420BD35B38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From k-</a:t>
            </a:r>
            <a:r>
              <a:rPr sz="2500" b="1" dirty="0" err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mers</a:t>
            </a: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 to Calibrated Probabilities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3A4AD83-0D9B-4B2D-847F-CC466FC13CDB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86AA93-BDB2-4B49-9A91-266D433228F8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F7F9FB"/>
          </a:solidFill>
          <a:ln w="12700">
            <a:solidFill>
              <a:srgbClr val="E3E9EE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3BCAE1-3AAB-431C-807B-DA85DBD63A9B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914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 dirty="0">
                <a:solidFill>
                  <a:srgbClr val="E8A33D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0779453-5202-4739-B656-F97A43DCFE6A}"/>
              </a:ext>
            </a:extLst>
          </p:cNvPr>
          <p:cNvSpPr>
            <a:spLocks noGrp="1"/>
          </p:cNvSpPr>
          <p:nvPr/>
        </p:nvSpPr>
        <p:spPr>
          <a:xfrm>
            <a:off x="1737360" y="1691640"/>
            <a:ext cx="35661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Set-Similarity Theory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5ECE068-1AB8-47CC-83B7-067A68A5CE9D}"/>
              </a:ext>
            </a:extLst>
          </p:cNvPr>
          <p:cNvSpPr>
            <a:spLocks noGrp="1"/>
          </p:cNvSpPr>
          <p:nvPr/>
        </p:nvSpPr>
        <p:spPr>
          <a:xfrm>
            <a:off x="5394960" y="1691640"/>
            <a:ext cx="6126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k-</a:t>
            </a:r>
            <a:r>
              <a:rPr sz="1600" dirty="0" err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mers</a:t>
            </a: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dirty="0" err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MinHash</a:t>
            </a: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, and </a:t>
            </a:r>
            <a:r>
              <a:rPr sz="1600" dirty="0" err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FracMinHash</a:t>
            </a: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 sketching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4D66227-22E7-4FB1-8258-2AE5FF04F0C5}"/>
              </a:ext>
            </a:extLst>
          </p:cNvPr>
          <p:cNvSpPr>
            <a:spLocks noGrp="1"/>
          </p:cNvSpPr>
          <p:nvPr/>
        </p:nvSpPr>
        <p:spPr>
          <a:xfrm>
            <a:off x="457200" y="2587752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A6D657C-8594-4385-BEC0-34FBA0579A15}"/>
              </a:ext>
            </a:extLst>
          </p:cNvPr>
          <p:cNvSpPr>
            <a:spLocks noGrp="1"/>
          </p:cNvSpPr>
          <p:nvPr/>
        </p:nvSpPr>
        <p:spPr>
          <a:xfrm>
            <a:off x="685800" y="2587752"/>
            <a:ext cx="914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E8A33D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D61EB36-BF74-4FF5-B852-F7B14C42F6D4}"/>
              </a:ext>
            </a:extLst>
          </p:cNvPr>
          <p:cNvSpPr>
            <a:spLocks noGrp="1"/>
          </p:cNvSpPr>
          <p:nvPr/>
        </p:nvSpPr>
        <p:spPr>
          <a:xfrm>
            <a:off x="1737360" y="2587752"/>
            <a:ext cx="35661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Embedding-Space Geometry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22F1EDA-5A53-4267-B9B8-AFE3F8D78CA8}"/>
              </a:ext>
            </a:extLst>
          </p:cNvPr>
          <p:cNvSpPr>
            <a:spLocks noGrp="1"/>
          </p:cNvSpPr>
          <p:nvPr/>
        </p:nvSpPr>
        <p:spPr>
          <a:xfrm>
            <a:off x="5394960" y="2587752"/>
            <a:ext cx="6126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Protein language model embeddings &amp; density-based outlier detection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F5663A8-0A46-4299-B9EF-D2A2EB23BB51}"/>
              </a:ext>
            </a:extLst>
          </p:cNvPr>
          <p:cNvSpPr>
            <a:spLocks noGrp="1"/>
          </p:cNvSpPr>
          <p:nvPr/>
        </p:nvSpPr>
        <p:spPr>
          <a:xfrm>
            <a:off x="457200" y="3483864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F7F9FB"/>
          </a:solidFill>
          <a:ln w="12700">
            <a:solidFill>
              <a:srgbClr val="E3E9EE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0FA349E-B21C-418E-A4F5-B954D3718447}"/>
              </a:ext>
            </a:extLst>
          </p:cNvPr>
          <p:cNvSpPr>
            <a:spLocks noGrp="1"/>
          </p:cNvSpPr>
          <p:nvPr/>
        </p:nvSpPr>
        <p:spPr>
          <a:xfrm>
            <a:off x="685800" y="3483864"/>
            <a:ext cx="914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E8A33D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CA95913-BB95-485A-9EB5-38D0C52A9A08}"/>
              </a:ext>
            </a:extLst>
          </p:cNvPr>
          <p:cNvSpPr>
            <a:spLocks noGrp="1"/>
          </p:cNvSpPr>
          <p:nvPr/>
        </p:nvSpPr>
        <p:spPr>
          <a:xfrm>
            <a:off x="1737360" y="3483864"/>
            <a:ext cx="35661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Probabilistic Calibration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759E3BB-2C54-4BFF-8133-E35E5E81A4AD}"/>
              </a:ext>
            </a:extLst>
          </p:cNvPr>
          <p:cNvSpPr>
            <a:spLocks noGrp="1"/>
          </p:cNvSpPr>
          <p:nvPr/>
        </p:nvSpPr>
        <p:spPr>
          <a:xfrm>
            <a:off x="5394960" y="3483864"/>
            <a:ext cx="6126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600" dirty="0">
                <a:solidFill>
                  <a:srgbClr val="5A6B7A"/>
                </a:solidFill>
                <a:ea typeface="Calibri"/>
                <a:cs typeface="Calibri"/>
              </a:rPr>
              <a:t>NCS fusion and </a:t>
            </a: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Isotonic regression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BBF72D0-4C01-4245-A007-5F0055109044}"/>
              </a:ext>
            </a:extLst>
          </p:cNvPr>
          <p:cNvSpPr>
            <a:spLocks noGrp="1"/>
          </p:cNvSpPr>
          <p:nvPr/>
        </p:nvSpPr>
        <p:spPr>
          <a:xfrm>
            <a:off x="457200" y="4379976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22CEF38-9660-42F3-86F8-38BEBA8FC5AD}"/>
              </a:ext>
            </a:extLst>
          </p:cNvPr>
          <p:cNvSpPr>
            <a:spLocks noGrp="1"/>
          </p:cNvSpPr>
          <p:nvPr/>
        </p:nvSpPr>
        <p:spPr>
          <a:xfrm>
            <a:off x="685800" y="4379976"/>
            <a:ext cx="914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E8A33D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5200D10-323E-4343-A6EE-B1A316FBF1FB}"/>
              </a:ext>
            </a:extLst>
          </p:cNvPr>
          <p:cNvSpPr>
            <a:spLocks noGrp="1"/>
          </p:cNvSpPr>
          <p:nvPr/>
        </p:nvSpPr>
        <p:spPr>
          <a:xfrm>
            <a:off x="1737360" y="4379976"/>
            <a:ext cx="35661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Leakage-Safe Benchmark Design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A175124-3995-45F6-8DF5-E5F3608521FD}"/>
              </a:ext>
            </a:extLst>
          </p:cNvPr>
          <p:cNvSpPr>
            <a:spLocks noGrp="1"/>
          </p:cNvSpPr>
          <p:nvPr/>
        </p:nvSpPr>
        <p:spPr>
          <a:xfrm>
            <a:off x="5394960" y="4379976"/>
            <a:ext cx="6126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Held-out lineages, taxonomic distance, and realistic backgrounds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58E9875-182D-418E-BBA0-398A37989CD2}"/>
              </a:ext>
            </a:extLst>
          </p:cNvPr>
          <p:cNvSpPr>
            <a:spLocks noGrp="1"/>
          </p:cNvSpPr>
          <p:nvPr/>
        </p:nvSpPr>
        <p:spPr>
          <a:xfrm>
            <a:off x="457200" y="5276088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F7F9FB"/>
          </a:solidFill>
          <a:ln w="12700">
            <a:solidFill>
              <a:srgbClr val="E3E9EE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88A1BD8-D733-44A3-9734-F5ABF995C27A}"/>
              </a:ext>
            </a:extLst>
          </p:cNvPr>
          <p:cNvSpPr>
            <a:spLocks noGrp="1"/>
          </p:cNvSpPr>
          <p:nvPr/>
        </p:nvSpPr>
        <p:spPr>
          <a:xfrm>
            <a:off x="685800" y="5276088"/>
            <a:ext cx="914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2600" b="1">
                <a:solidFill>
                  <a:srgbClr val="E8A33D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7D45BA5-A5BE-45C2-B880-AC4F5A5F5A0D}"/>
              </a:ext>
            </a:extLst>
          </p:cNvPr>
          <p:cNvSpPr>
            <a:spLocks noGrp="1"/>
          </p:cNvSpPr>
          <p:nvPr/>
        </p:nvSpPr>
        <p:spPr>
          <a:xfrm>
            <a:off x="1737360" y="5276088"/>
            <a:ext cx="35661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Validation &amp; Evaluation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FAC81DB-27D2-4A62-AAA4-0AF72814B079}"/>
              </a:ext>
            </a:extLst>
          </p:cNvPr>
          <p:cNvSpPr>
            <a:spLocks noGrp="1"/>
          </p:cNvSpPr>
          <p:nvPr/>
        </p:nvSpPr>
        <p:spPr>
          <a:xfrm>
            <a:off x="5394960" y="5276088"/>
            <a:ext cx="61264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AUPRC, false-alert burden, and probability reliability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A5B51DB-6D4A-4E62-9099-9D232773D203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9282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6">
            <a:extLst>
              <a:ext uri="{FF2B5EF4-FFF2-40B4-BE49-F238E27FC236}">
                <a16:creationId xmlns:a16="http://schemas.microsoft.com/office/drawing/2014/main" id="{150DD4F5-103F-4C2A-AA9C-A4C2673ABABA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8A0A19-5A30-4552-AA90-6FC763C419AE}"/>
              </a:ext>
            </a:extLst>
          </p:cNvPr>
          <p:cNvSpPr>
            <a:spLocks noGrp="1"/>
          </p:cNvSpPr>
          <p:nvPr/>
        </p:nvSpPr>
        <p:spPr>
          <a:xfrm>
            <a:off x="457200" y="468242"/>
            <a:ext cx="7403758" cy="5847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Dual-Channel Scoring, Calibration &amp; Evidence Verification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C558003-CC2D-49BA-8859-207B1235911C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pic>
        <p:nvPicPr>
          <p:cNvPr id="1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3748"/>
            <a:ext cx="10958186" cy="362424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585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6B7BB56-2A55-461B-B60A-D4B88D585E22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?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4CA13C-579A-44C3-B3F1-01EC201DFBC1}"/>
              </a:ext>
            </a:extLst>
          </p:cNvPr>
          <p:cNvSpPr>
            <a:spLocks noGrp="1"/>
          </p:cNvSpPr>
          <p:nvPr/>
        </p:nvSpPr>
        <p:spPr>
          <a:xfrm>
            <a:off x="457200" y="346288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Background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41ABAA-4A9E-40CC-BED4-E565BDF97E68}"/>
              </a:ext>
            </a:extLst>
          </p:cNvPr>
          <p:cNvSpPr>
            <a:spLocks noGrp="1"/>
          </p:cNvSpPr>
          <p:nvPr/>
        </p:nvSpPr>
        <p:spPr>
          <a:xfrm>
            <a:off x="457200" y="584032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Why Detection Needs Reference-Free Math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9E691D-5D23-4415-9C38-23FA847624D3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B3FD55-FCEF-4F21-8D5B-17E750D50FEB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5760720" cy="44805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400"/>
              </a:spcAft>
              <a:buChar char="•"/>
            </a:pPr>
            <a:r>
              <a:rPr sz="20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Kraken2/Bracken, GOTTCHA2, and Centrifuge all rely on reference matching</a:t>
            </a:r>
          </a:p>
          <a:p>
            <a:pPr marL="177800" indent="-177800">
              <a:spcAft>
                <a:spcPts val="1400"/>
              </a:spcAft>
              <a:buChar char="•"/>
            </a:pPr>
            <a:r>
              <a:rPr sz="20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 genuinely novel or highly divergent pathogen has, by construction, no reference to match</a:t>
            </a:r>
          </a:p>
          <a:p>
            <a:pPr marL="177800" indent="-177800">
              <a:spcAft>
                <a:spcPts val="1400"/>
              </a:spcAft>
              <a:buChar char="•"/>
            </a:pPr>
            <a:r>
              <a:rPr sz="20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result isn't misclassification — it's discarded into the unclassified fraction</a:t>
            </a:r>
          </a:p>
          <a:p>
            <a:pPr marL="177800" indent="-177800">
              <a:spcAft>
                <a:spcPts val="1400"/>
              </a:spcAft>
              <a:buChar char="•"/>
            </a:pPr>
            <a:r>
              <a:rPr sz="20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In real wastewater metagenomes, that unclassified fraction routinely runs 60%–90%</a:t>
            </a:r>
          </a:p>
          <a:p>
            <a:pPr marL="177800" indent="-177800">
              <a:spcAft>
                <a:spcPts val="1400"/>
              </a:spcAft>
              <a:buChar char="•"/>
            </a:pPr>
            <a:r>
              <a:rPr sz="20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Lower stringency → candidate surge → analyst review becomes the new bottleneck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369385C-7445-4086-9E53-0FE9944DEED6}"/>
              </a:ext>
            </a:extLst>
          </p:cNvPr>
          <p:cNvSpPr>
            <a:spLocks noGrp="1"/>
          </p:cNvSpPr>
          <p:nvPr/>
        </p:nvSpPr>
        <p:spPr>
          <a:xfrm>
            <a:off x="6419588" y="1600200"/>
            <a:ext cx="5284731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2744DF-98AB-4777-8B88-EA67C2EB2F48}"/>
              </a:ext>
            </a:extLst>
          </p:cNvPr>
          <p:cNvSpPr>
            <a:spLocks noGrp="1"/>
          </p:cNvSpPr>
          <p:nvPr/>
        </p:nvSpPr>
        <p:spPr>
          <a:xfrm>
            <a:off x="6858000" y="1783080"/>
            <a:ext cx="457200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 Formal Statement of the Problem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34664F0-EA4C-4A28-87EE-7D9D6012FB62}"/>
              </a:ext>
            </a:extLst>
          </p:cNvPr>
          <p:cNvSpPr>
            <a:spLocks noGrp="1"/>
          </p:cNvSpPr>
          <p:nvPr/>
        </p:nvSpPr>
        <p:spPr>
          <a:xfrm>
            <a:off x="6479956" y="2130552"/>
            <a:ext cx="5094093" cy="58579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r>
              <a:rPr sz="120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reads(sample) = reads(in known DB) + reads(out-of-DB)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2D31E7D-525F-48D6-8127-7A605A447194}"/>
              </a:ext>
            </a:extLst>
          </p:cNvPr>
          <p:cNvSpPr>
            <a:spLocks noGrp="1"/>
          </p:cNvSpPr>
          <p:nvPr/>
        </p:nvSpPr>
        <p:spPr>
          <a:xfrm>
            <a:off x="6858000" y="2971800"/>
            <a:ext cx="4572000" cy="30621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P(detect | s) depends on sim(s, D)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33E85F7-708D-49D5-8BF6-AD2ED76D79F6}"/>
              </a:ext>
            </a:extLst>
          </p:cNvPr>
          <p:cNvSpPr>
            <a:spLocks noGrp="1"/>
          </p:cNvSpPr>
          <p:nvPr/>
        </p:nvSpPr>
        <p:spPr>
          <a:xfrm>
            <a:off x="6858000" y="3392424"/>
            <a:ext cx="4572000" cy="30621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As sim(s, D) → 0, detection rate → 0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3998F0C-ABBC-4E63-BA22-36802DB0C8EF}"/>
              </a:ext>
            </a:extLst>
          </p:cNvPr>
          <p:cNvSpPr>
            <a:spLocks noGrp="1"/>
          </p:cNvSpPr>
          <p:nvPr/>
        </p:nvSpPr>
        <p:spPr>
          <a:xfrm>
            <a:off x="6858000" y="3849624"/>
            <a:ext cx="4572000" cy="58459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NOVA-MGS's goal: turn the “similarity → 0” regime into a continuous, calibrated novelty probability — not a discarded read.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E2ACE3B-6D3C-45A5-B1DC-3BA3BCA0513C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07013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7C6DBF2-2588-4D9E-BF5A-A40BC8B400E8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⇄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ABBA68-2A29-4BEC-8557-F907CBC351AB}"/>
              </a:ext>
            </a:extLst>
          </p:cNvPr>
          <p:cNvSpPr>
            <a:spLocks noGrp="1"/>
          </p:cNvSpPr>
          <p:nvPr/>
        </p:nvSpPr>
        <p:spPr>
          <a:xfrm>
            <a:off x="457200" y="344841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System Overview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18610F3-D1CD-4291-AA0E-CD34606BF99D}"/>
              </a:ext>
            </a:extLst>
          </p:cNvPr>
          <p:cNvSpPr>
            <a:spLocks noGrp="1"/>
          </p:cNvSpPr>
          <p:nvPr/>
        </p:nvSpPr>
        <p:spPr>
          <a:xfrm>
            <a:off x="457200" y="582585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Dual-Channel Scoring &amp; Evidence Verification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8F5729-8446-4AB8-93D8-14B705057F9A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0BE965-6E88-4194-B7EF-F552267B07FF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7F9FB"/>
          </a:solidFill>
          <a:ln w="1905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386782-5511-4455-AFEB-06F0F4F28292}"/>
              </a:ext>
            </a:extLst>
          </p:cNvPr>
          <p:cNvSpPr>
            <a:spLocks noGrp="1"/>
          </p:cNvSpPr>
          <p:nvPr/>
        </p:nvSpPr>
        <p:spPr>
          <a:xfrm>
            <a:off x="594360" y="2011680"/>
            <a:ext cx="224028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350" b="1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Channel A · Nucleotide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D43484-D1B4-40FF-A8A4-6686CAFC11E0}"/>
              </a:ext>
            </a:extLst>
          </p:cNvPr>
          <p:cNvSpPr>
            <a:spLocks noGrp="1"/>
          </p:cNvSpPr>
          <p:nvPr/>
        </p:nvSpPr>
        <p:spPr>
          <a:xfrm>
            <a:off x="594360" y="2651760"/>
            <a:ext cx="2240280" cy="12801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sz="1400" dirty="0" err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FracMinHash</a:t>
            </a:r>
            <a:r>
              <a:rPr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400" dirty="0" err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sourmash</a:t>
            </a:r>
            <a:endParaRPr sz="1400" dirty="0">
              <a:solidFill>
                <a:srgbClr val="5A6B7A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containment estimation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3F57E66-73D6-41A8-A333-33AB99DDD950}"/>
              </a:ext>
            </a:extLst>
          </p:cNvPr>
          <p:cNvSpPr>
            <a:spLocks noGrp="1"/>
          </p:cNvSpPr>
          <p:nvPr/>
        </p:nvSpPr>
        <p:spPr>
          <a:xfrm>
            <a:off x="2971800" y="2743200"/>
            <a:ext cx="3200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03D7A78-6468-4135-AB05-80BB490A4115}"/>
              </a:ext>
            </a:extLst>
          </p:cNvPr>
          <p:cNvSpPr>
            <a:spLocks noGrp="1"/>
          </p:cNvSpPr>
          <p:nvPr/>
        </p:nvSpPr>
        <p:spPr>
          <a:xfrm>
            <a:off x="3291840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7F9FB"/>
          </a:solidFill>
          <a:ln w="1905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C8AC727-007D-4F57-B0FF-B0B63DAA9EC7}"/>
              </a:ext>
            </a:extLst>
          </p:cNvPr>
          <p:cNvSpPr>
            <a:spLocks noGrp="1"/>
          </p:cNvSpPr>
          <p:nvPr/>
        </p:nvSpPr>
        <p:spPr>
          <a:xfrm>
            <a:off x="3429000" y="2011680"/>
            <a:ext cx="224028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35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Channel B · Protein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AD8DD6A-1939-4682-A553-7E669DE65D1B}"/>
              </a:ext>
            </a:extLst>
          </p:cNvPr>
          <p:cNvSpPr>
            <a:spLocks noGrp="1"/>
          </p:cNvSpPr>
          <p:nvPr/>
        </p:nvSpPr>
        <p:spPr>
          <a:xfrm>
            <a:off x="3429000" y="2651760"/>
            <a:ext cx="2240280" cy="12801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sz="12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ESM-2 embedding +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2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density-based outlier detection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7A6C75-21E2-4913-933A-654BD8339876}"/>
              </a:ext>
            </a:extLst>
          </p:cNvPr>
          <p:cNvSpPr>
            <a:spLocks noGrp="1"/>
          </p:cNvSpPr>
          <p:nvPr/>
        </p:nvSpPr>
        <p:spPr>
          <a:xfrm>
            <a:off x="5806440" y="2743200"/>
            <a:ext cx="3200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1B6D5A-DFB8-4009-880B-C4CAEC3B0040}"/>
              </a:ext>
            </a:extLst>
          </p:cNvPr>
          <p:cNvSpPr>
            <a:spLocks noGrp="1"/>
          </p:cNvSpPr>
          <p:nvPr/>
        </p:nvSpPr>
        <p:spPr>
          <a:xfrm>
            <a:off x="6126480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7F9FB"/>
          </a:solidFill>
          <a:ln w="19050">
            <a:solidFill>
              <a:srgbClr val="0B2545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CE26F30-52F9-4EB6-BBA7-B072663A9F14}"/>
              </a:ext>
            </a:extLst>
          </p:cNvPr>
          <p:cNvSpPr>
            <a:spLocks noGrp="1"/>
          </p:cNvSpPr>
          <p:nvPr/>
        </p:nvSpPr>
        <p:spPr>
          <a:xfrm>
            <a:off x="6263640" y="2011680"/>
            <a:ext cx="224028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350" b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Fusion &amp; Calibration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C69E1CE-2FC6-4D36-9A68-ADF298FD8C1B}"/>
              </a:ext>
            </a:extLst>
          </p:cNvPr>
          <p:cNvSpPr>
            <a:spLocks noGrp="1"/>
          </p:cNvSpPr>
          <p:nvPr/>
        </p:nvSpPr>
        <p:spPr>
          <a:xfrm>
            <a:off x="6263640" y="2651760"/>
            <a:ext cx="2240280" cy="12801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Logistic Fusion</a:t>
            </a:r>
            <a:r>
              <a:rPr lang="en-US" sz="1400" dirty="0">
                <a:solidFill>
                  <a:srgbClr val="5A6B7A"/>
                </a:solidFill>
                <a:ea typeface="Calibri"/>
                <a:cs typeface="Calibri"/>
              </a:rPr>
              <a:t> → </a:t>
            </a:r>
            <a:r>
              <a:rPr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Isotonic regression →</a:t>
            </a:r>
            <a:r>
              <a:rPr lang="en-US"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 NCS (</a:t>
            </a:r>
            <a:r>
              <a:rPr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Novelty &amp; Concern Score</a:t>
            </a:r>
            <a:r>
              <a:rPr lang="en-US" sz="1400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)</a:t>
            </a:r>
            <a:endParaRPr sz="1400" dirty="0">
              <a:solidFill>
                <a:srgbClr val="5A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4BFF2C2-3633-4FE2-950B-D61B8E6D05E1}"/>
              </a:ext>
            </a:extLst>
          </p:cNvPr>
          <p:cNvSpPr>
            <a:spLocks noGrp="1"/>
          </p:cNvSpPr>
          <p:nvPr/>
        </p:nvSpPr>
        <p:spPr>
          <a:xfrm>
            <a:off x="8641080" y="2743200"/>
            <a:ext cx="3200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390FB29-2734-4DD7-B52E-AFFDF3CD9DEB}"/>
              </a:ext>
            </a:extLst>
          </p:cNvPr>
          <p:cNvSpPr>
            <a:spLocks noGrp="1"/>
          </p:cNvSpPr>
          <p:nvPr/>
        </p:nvSpPr>
        <p:spPr>
          <a:xfrm>
            <a:off x="8961120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EEF3F7"/>
          </a:solidFill>
          <a:ln w="19050">
            <a:solidFill>
              <a:srgbClr val="E8A33D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A5E88FA-D10D-4F15-AF07-A3E05C8150D1}"/>
              </a:ext>
            </a:extLst>
          </p:cNvPr>
          <p:cNvSpPr>
            <a:spLocks noGrp="1"/>
          </p:cNvSpPr>
          <p:nvPr/>
        </p:nvSpPr>
        <p:spPr>
          <a:xfrm>
            <a:off x="9098280" y="2011680"/>
            <a:ext cx="224028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350" b="1">
                <a:latin typeface="Calibri"/>
                <a:ea typeface="Calibri"/>
                <a:cs typeface="Calibri"/>
              </a:rPr>
              <a:t>Evidence Verification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79D8652-706D-4CDD-AD96-246F67847753}"/>
              </a:ext>
            </a:extLst>
          </p:cNvPr>
          <p:cNvSpPr>
            <a:spLocks noGrp="1"/>
          </p:cNvSpPr>
          <p:nvPr/>
        </p:nvSpPr>
        <p:spPr>
          <a:xfrm>
            <a:off x="9098280" y="2651760"/>
            <a:ext cx="2240280" cy="12801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sz="1400" dirty="0">
                <a:latin typeface="Calibri"/>
                <a:ea typeface="Calibri"/>
                <a:cs typeface="Calibri"/>
              </a:rPr>
              <a:t>Read support + coverage checks →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400" dirty="0">
                <a:latin typeface="Calibri"/>
                <a:ea typeface="Calibri"/>
                <a:cs typeface="Calibri"/>
              </a:rPr>
              <a:t>evidence-verified dossier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709C0FD-F13D-47D2-B3FC-2E8A6C4C54B5}"/>
              </a:ext>
            </a:extLst>
          </p:cNvPr>
          <p:cNvSpPr>
            <a:spLocks noGrp="1"/>
          </p:cNvSpPr>
          <p:nvPr/>
        </p:nvSpPr>
        <p:spPr>
          <a:xfrm>
            <a:off x="457200" y="4526280"/>
            <a:ext cx="11274552" cy="1508760"/>
          </a:xfrm>
          <a:prstGeom prst="roundRect">
            <a:avLst>
              <a:gd name="adj" fmla="val 4848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FF35D20-0F5F-430A-9A9F-6686AA720966}"/>
              </a:ext>
            </a:extLst>
          </p:cNvPr>
          <p:cNvSpPr>
            <a:spLocks noGrp="1"/>
          </p:cNvSpPr>
          <p:nvPr/>
        </p:nvSpPr>
        <p:spPr>
          <a:xfrm>
            <a:off x="731520" y="4709160"/>
            <a:ext cx="10725912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The Mathematical Objects This Talk Covers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C2A9D19-19C5-437A-B571-757BE2DAFCAD}"/>
              </a:ext>
            </a:extLst>
          </p:cNvPr>
          <p:cNvSpPr>
            <a:spLocks noGrp="1"/>
          </p:cNvSpPr>
          <p:nvPr/>
        </p:nvSpPr>
        <p:spPr>
          <a:xfrm>
            <a:off x="731520" y="5056632"/>
            <a:ext cx="10725912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x_A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 = 1−containment;  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x_B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 = aggregated ORF evidence → 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z_c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 = β₀+β_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Ax_A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+β_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Bᵀx_B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 → 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NCS_c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g_iso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(σ(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z_c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))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9B9F74A-C9CB-4193-A681-1C0D608F9A19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7745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0A7F8DB7-C374-427D-B20C-ED53C8673ED5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Σ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17D992-80D8-4A28-BD09-30ECE8CE9C54}"/>
              </a:ext>
            </a:extLst>
          </p:cNvPr>
          <p:cNvSpPr>
            <a:spLocks noGrp="1"/>
          </p:cNvSpPr>
          <p:nvPr/>
        </p:nvSpPr>
        <p:spPr>
          <a:xfrm>
            <a:off x="457200" y="32918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Set-Similarity Theory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174511-9FDC-434F-B4DD-46A2A741F478}"/>
              </a:ext>
            </a:extLst>
          </p:cNvPr>
          <p:cNvSpPr>
            <a:spLocks noGrp="1"/>
          </p:cNvSpPr>
          <p:nvPr/>
        </p:nvSpPr>
        <p:spPr>
          <a:xfrm>
            <a:off x="457200" y="566928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k-</a:t>
            </a:r>
            <a:r>
              <a:rPr sz="2500" b="1" dirty="0" err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mer</a:t>
            </a: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 Sets &amp; </a:t>
            </a:r>
            <a:r>
              <a:rPr sz="2500" b="1" dirty="0" err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MinHash</a:t>
            </a: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 Sketching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759A245-DB5B-423B-867F-B4E3EB72A488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54B0049-A2CD-458C-AC92-1E761882C2EA}"/>
              </a:ext>
            </a:extLst>
          </p:cNvPr>
          <p:cNvSpPr>
            <a:spLocks noGrp="1"/>
          </p:cNvSpPr>
          <p:nvPr/>
        </p:nvSpPr>
        <p:spPr>
          <a:xfrm>
            <a:off x="457200" y="1481329"/>
            <a:ext cx="5394960" cy="520293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Split a sequence of length L into every length-k substring (k-</a:t>
            </a:r>
            <a:r>
              <a:rPr dirty="0" err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mer</a:t>
            </a: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 hash function can be understood as a "digital fingerprint generator": it converts data of arbitrary length into an integer of fixed length.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A hash function h maps each k-</a:t>
            </a:r>
            <a:r>
              <a:rPr dirty="0" err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mer</a:t>
            </a: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 to a near-uniform integer in [0, H)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Bottom-sketch </a:t>
            </a:r>
            <a:r>
              <a:rPr dirty="0" err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MinHash</a:t>
            </a: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 keeps only the m smallest hash values as a “fingerprint”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intersection-over-union of two fingerprints unbiasedly estimates Jaccard similarity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Benefit: no alignment needed — comparison cost is independent of sequence length</a:t>
            </a:r>
          </a:p>
          <a:p>
            <a:pPr marL="177800" indent="-177800">
              <a:spcAft>
                <a:spcPts val="1300"/>
              </a:spcAft>
              <a:buChar char="•"/>
            </a:pPr>
            <a:r>
              <a:rPr dirty="0"/>
              <a:t>DNA sequence → k-</a:t>
            </a:r>
            <a:r>
              <a:rPr dirty="0" err="1"/>
              <a:t>mer</a:t>
            </a:r>
            <a:r>
              <a:rPr dirty="0"/>
              <a:t> set → hash value set → retain the m smallest values</a:t>
            </a:r>
          </a:p>
          <a:p>
            <a:pPr marL="177800" indent="-177800">
              <a:spcAft>
                <a:spcPts val="1300"/>
              </a:spcAft>
              <a:buChar char="•"/>
            </a:pPr>
            <a:endParaRPr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2A7A5F-D894-4732-ABEA-4E21D06E700D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669280" cy="4474923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8F2605-D17C-4507-8C64-59C71F1D6E4C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Definitions &amp; Estimator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EF9027D-DEE7-4738-BCE9-95C287DB1D73}"/>
              </a:ext>
            </a:extLst>
          </p:cNvPr>
          <p:cNvSpPr>
            <a:spLocks noGrp="1"/>
          </p:cNvSpPr>
          <p:nvPr/>
        </p:nvSpPr>
        <p:spPr>
          <a:xfrm>
            <a:off x="6309360" y="2130552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K(A) = { A[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i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..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i+k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) : </a:t>
            </a: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i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 = 1..L−k+1 }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411B9F6-5FB0-4270-8ACC-58C676DB2965}"/>
              </a:ext>
            </a:extLst>
          </p:cNvPr>
          <p:cNvSpPr>
            <a:spLocks noGrp="1"/>
          </p:cNvSpPr>
          <p:nvPr/>
        </p:nvSpPr>
        <p:spPr>
          <a:xfrm>
            <a:off x="6309360" y="2551176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h : Σᵏ → [0, H)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3AB30AF-B76A-4EBA-935B-1C7AF78DB713}"/>
              </a:ext>
            </a:extLst>
          </p:cNvPr>
          <p:cNvSpPr>
            <a:spLocks noGrp="1"/>
          </p:cNvSpPr>
          <p:nvPr/>
        </p:nvSpPr>
        <p:spPr>
          <a:xfrm>
            <a:off x="6309360" y="2971800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S(A) = bottom-m { h(κ) : κ ∈ K(A) }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5AEBDB7-5556-4364-AE47-298FFC3FB339}"/>
              </a:ext>
            </a:extLst>
          </p:cNvPr>
          <p:cNvSpPr>
            <a:spLocks noGrp="1"/>
          </p:cNvSpPr>
          <p:nvPr/>
        </p:nvSpPr>
        <p:spPr>
          <a:xfrm>
            <a:off x="6309360" y="3392424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Ĵ(A,B) = |S(A)∩S(B)| / |S(A)∪S(B)|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8ED2B81-2588-454E-B341-40435C0FDF08}"/>
              </a:ext>
            </a:extLst>
          </p:cNvPr>
          <p:cNvSpPr>
            <a:spLocks noGrp="1"/>
          </p:cNvSpPr>
          <p:nvPr/>
        </p:nvSpPr>
        <p:spPr>
          <a:xfrm>
            <a:off x="6309360" y="3840480"/>
            <a:ext cx="5120640" cy="2011679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buNone/>
            </a:pPr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Ĵ(A,B) is an unbiased estimator of the true Jaccard similarity J(A,B) = |K(A)∩K(B)| / |K(A)∪K(B)|; its variance shrinks as |S| grows.</a:t>
            </a:r>
          </a:p>
          <a:p>
            <a:pPr marL="0" indent="0">
              <a:buNone/>
            </a:pPr>
            <a:endParaRPr sz="1100" i="1" dirty="0">
              <a:solidFill>
                <a:srgbClr val="5A6B7A"/>
              </a:solidFill>
              <a:latin typeface="Calibri"/>
              <a:ea typeface="Calibri"/>
              <a:cs typeface="Calibri"/>
            </a:endParaRPr>
          </a:p>
          <a:p>
            <a:r>
              <a:rPr sz="1100" dirty="0"/>
              <a:t>An example：</a:t>
            </a:r>
          </a:p>
          <a:p>
            <a:endParaRPr sz="1100" dirty="0"/>
          </a:p>
          <a:p>
            <a:r>
              <a:rPr sz="1100" dirty="0"/>
              <a:t>H(A)={82,15,47,31,66,24}</a:t>
            </a:r>
          </a:p>
          <a:p>
            <a:r>
              <a:rPr sz="11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Sorting：</a:t>
            </a:r>
            <a:r>
              <a:rPr sz="1100" dirty="0"/>
              <a:t>15, 24, 31, 47, 66, 82</a:t>
            </a:r>
          </a:p>
          <a:p>
            <a:endParaRPr sz="1100" dirty="0"/>
          </a:p>
          <a:p>
            <a:r>
              <a:rPr sz="1100" dirty="0">
                <a:solidFill>
                  <a:srgbClr val="0B2545"/>
                </a:solidFill>
              </a:rPr>
              <a:t>S(A) = </a:t>
            </a:r>
            <a:r>
              <a:rPr sz="1100" dirty="0"/>
              <a:t>bottom-1(H(A))={15} </a:t>
            </a:r>
          </a:p>
          <a:p>
            <a:r>
              <a:rPr sz="1100" dirty="0">
                <a:solidFill>
                  <a:srgbClr val="0B2545"/>
                </a:solidFill>
              </a:rPr>
              <a:t>S(A) = </a:t>
            </a:r>
            <a:r>
              <a:rPr sz="1100" dirty="0"/>
              <a:t>bottom-2(H(A))={15,24}</a:t>
            </a:r>
          </a:p>
          <a:p>
            <a:r>
              <a:rPr sz="1100" dirty="0">
                <a:solidFill>
                  <a:srgbClr val="0B2545"/>
                </a:solidFill>
              </a:rPr>
              <a:t>S(A) = </a:t>
            </a:r>
            <a:r>
              <a:rPr sz="1100" dirty="0"/>
              <a:t>bottom-3(H(A))={15,24,31}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F95C921-E2A2-411B-8078-C1909E62AB4C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C6EBC1-4E69-45CA-8366-EB52EFF5C088}"/>
              </a:ext>
            </a:extLst>
          </p:cNvPr>
          <p:cNvSpPr>
            <a:spLocks noGrp="1"/>
          </p:cNvSpPr>
          <p:nvPr/>
        </p:nvSpPr>
        <p:spPr>
          <a:xfrm>
            <a:off x="334297" y="431268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957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D8B9DFC7-B398-40EC-AF5C-1ACFC6266805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∩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5B96EAF-A974-405D-A044-145D2B3C6251}"/>
              </a:ext>
            </a:extLst>
          </p:cNvPr>
          <p:cNvSpPr>
            <a:spLocks noGrp="1"/>
          </p:cNvSpPr>
          <p:nvPr/>
        </p:nvSpPr>
        <p:spPr>
          <a:xfrm>
            <a:off x="457200" y="358558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FracMinHash &amp; Containment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AF640E-B0B8-4645-923F-5A3B04080919}"/>
              </a:ext>
            </a:extLst>
          </p:cNvPr>
          <p:cNvSpPr>
            <a:spLocks noGrp="1"/>
          </p:cNvSpPr>
          <p:nvPr/>
        </p:nvSpPr>
        <p:spPr>
          <a:xfrm>
            <a:off x="457200" y="596302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 err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sourmash's</a:t>
            </a: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 Scaled Sketching Strategy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4E4B0B1-584F-49F0-82B0-A1EDD7BEC5F9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3DD8B58-B345-4F94-B103-875BA0E538BE}"/>
              </a:ext>
            </a:extLst>
          </p:cNvPr>
          <p:cNvSpPr>
            <a:spLocks noGrp="1"/>
          </p:cNvSpPr>
          <p:nvPr/>
        </p:nvSpPr>
        <p:spPr>
          <a:xfrm>
            <a:off x="457200" y="1600199"/>
            <a:ext cx="5394960" cy="478231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Fixed-size </a:t>
            </a:r>
            <a:r>
              <a:rPr sz="1600" dirty="0" err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MinHash</a:t>
            </a: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 distorts comparisons between very differently sized sequences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 err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FracMinHash</a:t>
            </a: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 instead keeps every hash below a threshold H/s (“scaled sketching”)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scale factor s (e.g., 1000) is fixed, so sketch size scales naturally with length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Containment fits “novelty” better than Jaccard: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It measures how much of a query's k-</a:t>
            </a:r>
            <a:r>
              <a:rPr sz="1600" dirty="0" err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mer</a:t>
            </a: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 content the known viral DB explains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980E1B8-7203-4DFD-B741-7E60A0E197DA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CBACCAB-9BCB-445E-A610-138C9CEFC492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Scaled Sketching &amp; Containment Estimator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ED9A83F-267D-41E4-A221-87BF7E340508}"/>
              </a:ext>
            </a:extLst>
          </p:cNvPr>
          <p:cNvSpPr>
            <a:spLocks noGrp="1"/>
          </p:cNvSpPr>
          <p:nvPr/>
        </p:nvSpPr>
        <p:spPr>
          <a:xfrm>
            <a:off x="6309360" y="2130552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S(A) = { h(κ) : h(κ) &lt; H/s }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E25777B-5F17-473D-8BDF-EBA7C7C56CB2}"/>
              </a:ext>
            </a:extLst>
          </p:cNvPr>
          <p:cNvSpPr>
            <a:spLocks noGrp="1"/>
          </p:cNvSpPr>
          <p:nvPr/>
        </p:nvSpPr>
        <p:spPr>
          <a:xfrm>
            <a:off x="6309360" y="2551176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Ĉ(A,B) = |S(A)∩S(B)| / |S(A)|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17A692E-8A99-498D-AFEA-A62027F60C65}"/>
              </a:ext>
            </a:extLst>
          </p:cNvPr>
          <p:cNvSpPr>
            <a:spLocks noGrp="1"/>
          </p:cNvSpPr>
          <p:nvPr/>
        </p:nvSpPr>
        <p:spPr>
          <a:xfrm>
            <a:off x="6309360" y="2971800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     ≈  C(A,B) = |K(A)∩K(B)| / |K(A)|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6B4F1D-48E5-4248-A138-F191530C0394}"/>
              </a:ext>
            </a:extLst>
          </p:cNvPr>
          <p:cNvSpPr>
            <a:spLocks noGrp="1"/>
          </p:cNvSpPr>
          <p:nvPr/>
        </p:nvSpPr>
        <p:spPr>
          <a:xfrm>
            <a:off x="6309360" y="3392424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Var[Ĉ] ≈ C(1−C) / |S(A)|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E54F5D-71C9-4190-8034-91DD39CC3A01}"/>
              </a:ext>
            </a:extLst>
          </p:cNvPr>
          <p:cNvSpPr>
            <a:spLocks noGrp="1"/>
          </p:cNvSpPr>
          <p:nvPr/>
        </p:nvSpPr>
        <p:spPr>
          <a:xfrm>
            <a:off x="6309360" y="3849624"/>
            <a:ext cx="5120640" cy="1311099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sz="1600" b="1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Low Ĉ(query, known viral DB) → high nucleotide-level novelty; the variance formula grounds confidence intervals and alert thresholds.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CB25BCD-F446-4C04-B59E-314B9BA7B025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>
        <p:nvPicPr>
          <p:cNvPr id="33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97" y="4818140"/>
            <a:ext cx="3628988" cy="165581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3332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1129D1EE-8723-44F6-A0D7-BAD9C627B49C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ℝ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F2DEB33-7CC5-4D7A-B8AB-2138925EF54E}"/>
              </a:ext>
            </a:extLst>
          </p:cNvPr>
          <p:cNvSpPr>
            <a:spLocks noGrp="1"/>
          </p:cNvSpPr>
          <p:nvPr/>
        </p:nvSpPr>
        <p:spPr>
          <a:xfrm>
            <a:off x="457200" y="311070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Embedding-Space Geometry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6A6D18-8CA7-4B58-B829-C0815C18B144}"/>
              </a:ext>
            </a:extLst>
          </p:cNvPr>
          <p:cNvSpPr>
            <a:spLocks noGrp="1"/>
          </p:cNvSpPr>
          <p:nvPr/>
        </p:nvSpPr>
        <p:spPr>
          <a:xfrm>
            <a:off x="457200" y="548814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Protein Embeddings &amp; Outlier Detection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20DF856-6703-480A-A143-ECDA28A38622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32A6A6-EABE-4AAC-8810-8EDEEC6746A9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5394960" cy="321168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Six-frame ORF prediction → encode each ORF with a protein language model (ESM-2)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Nucleotide sequence can diverge past recognition, yet capsid/polymerase fold may not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We estimate local density on the known-viral protein manifold, not a classifier boundary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Candidates in low-density regions signal structural / functional novelty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sz="1600"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Complements Channel A's blind spot: what nucleotides can't see, structure can</a:t>
            </a:r>
          </a:p>
          <a:p>
            <a:pPr marL="177800" indent="-177800">
              <a:spcAft>
                <a:spcPts val="1200"/>
              </a:spcAft>
              <a:buChar char="•"/>
            </a:pPr>
            <a:endParaRPr sz="1600" dirty="0">
              <a:solidFill>
                <a:srgbClr val="0B254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0074FEF-9DA5-41D0-B527-43ACB773974A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05D354A-CE8D-4DA5-BD5D-4EE0C5286EB4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Local Density &amp; Outlier Score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BD002C-0B2E-459C-B3D9-C6AA9B1F8C6B}"/>
              </a:ext>
            </a:extLst>
          </p:cNvPr>
          <p:cNvSpPr>
            <a:spLocks noGrp="1"/>
          </p:cNvSpPr>
          <p:nvPr/>
        </p:nvSpPr>
        <p:spPr>
          <a:xfrm>
            <a:off x="6309360" y="2130552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ORF → e ∈ R^d    (d ≈ 1280)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571DE7F-CD42-41BA-93BA-0349FE48DDBC}"/>
              </a:ext>
            </a:extLst>
          </p:cNvPr>
          <p:cNvSpPr>
            <a:spLocks noGrp="1"/>
          </p:cNvSpPr>
          <p:nvPr/>
        </p:nvSpPr>
        <p:spPr>
          <a:xfrm>
            <a:off x="6309360" y="2551176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ρ_k(e) = k / ( n · V_k(e) )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10FE16B-C99E-4F1D-8EE2-C85B639EB313}"/>
              </a:ext>
            </a:extLst>
          </p:cNvPr>
          <p:cNvSpPr>
            <a:spLocks noGrp="1"/>
          </p:cNvSpPr>
          <p:nvPr/>
        </p:nvSpPr>
        <p:spPr>
          <a:xfrm>
            <a:off x="6309360" y="2971800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r>
              <a:rPr sz="12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LOF_k(e) = ( Σ lrd_k(o)/lrd_k(e) ) / k      </a:t>
            </a:r>
            <a:r>
              <a:rPr sz="1200"/>
              <a:t># o∈N_k(e)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6704E7E-9274-4A1F-9156-7C15BB174C15}"/>
              </a:ext>
            </a:extLst>
          </p:cNvPr>
          <p:cNvSpPr>
            <a:spLocks noGrp="1"/>
          </p:cNvSpPr>
          <p:nvPr/>
        </p:nvSpPr>
        <p:spPr>
          <a:xfrm>
            <a:off x="6309360" y="3530174"/>
            <a:ext cx="5120640" cy="2231136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V_k</a:t>
            </a:r>
            <a:r>
              <a:rPr sz="110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(e)：The volume of the high-dimensional region centered at e that just encompasses the k-</a:t>
            </a:r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th</a:t>
            </a:r>
            <a:r>
              <a:rPr sz="110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 nearest neighbor;</a:t>
            </a:r>
          </a:p>
          <a:p>
            <a:endParaRPr sz="1100" dirty="0">
              <a:solidFill>
                <a:srgbClr val="0B2545"/>
              </a:solidFill>
              <a:latin typeface="Courier New"/>
              <a:ea typeface="Courier New"/>
              <a:cs typeface="Courier New"/>
            </a:endParaRPr>
          </a:p>
          <a:p>
            <a:r>
              <a:rPr sz="110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e: embedding vector of the protein to be detected;</a:t>
            </a:r>
          </a:p>
          <a:p>
            <a:endParaRPr sz="1100" dirty="0">
              <a:solidFill>
                <a:srgbClr val="0B2545"/>
              </a:solidFill>
              <a:latin typeface="Courier New"/>
              <a:ea typeface="Courier New"/>
              <a:cs typeface="Courier New"/>
            </a:endParaRPr>
          </a:p>
          <a:p>
            <a:r>
              <a:rPr sz="110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n: known total number of viral proteins;</a:t>
            </a:r>
          </a:p>
          <a:p>
            <a:endParaRPr sz="1100" dirty="0">
              <a:solidFill>
                <a:srgbClr val="0B2545"/>
              </a:solidFill>
              <a:latin typeface="Courier New"/>
              <a:ea typeface="Courier New"/>
              <a:cs typeface="Courier New"/>
            </a:endParaRPr>
          </a:p>
          <a:p>
            <a:r>
              <a:rPr sz="110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k: the number of nearest neighbors selected, e.g., 20;</a:t>
            </a:r>
          </a:p>
          <a:p>
            <a:endParaRPr sz="1100" dirty="0">
              <a:solidFill>
                <a:srgbClr val="0B2545"/>
              </a:solidFill>
              <a:latin typeface="Courier New"/>
              <a:ea typeface="Courier New"/>
              <a:cs typeface="Courier New"/>
            </a:endParaRP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lrd_k</a:t>
            </a:r>
            <a:r>
              <a:rPr sz="110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(o): The local reachable density of neighbor o.</a:t>
            </a:r>
          </a:p>
          <a:p>
            <a:endParaRPr sz="1100" dirty="0">
              <a:solidFill>
                <a:srgbClr val="0B2545"/>
              </a:solidFill>
              <a:latin typeface="Courier New"/>
              <a:ea typeface="Courier New"/>
              <a:cs typeface="Courier New"/>
            </a:endParaRPr>
          </a:p>
          <a:p>
            <a:r>
              <a:rPr sz="110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lrd_k</a:t>
            </a:r>
            <a:r>
              <a:rPr sz="110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(e): local reachable density of e;</a:t>
            </a:r>
          </a:p>
          <a:p>
            <a:pPr marL="0" indent="0">
              <a:buNone/>
            </a:pPr>
            <a:endParaRPr sz="1100" dirty="0">
              <a:solidFill>
                <a:srgbClr val="0B2545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0A5710D-B120-4038-B67C-F598A131E91A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>
        <p:nvPicPr>
          <p:cNvPr id="36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928744"/>
            <a:ext cx="2123768" cy="12329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72027BD-70C3-41DE-B118-89B5DE4269F6}"/>
              </a:ext>
            </a:extLst>
          </p:cNvPr>
          <p:cNvSpPr>
            <a:spLocks noGrp="1"/>
          </p:cNvSpPr>
          <p:nvPr/>
        </p:nvSpPr>
        <p:spPr>
          <a:xfrm>
            <a:off x="9725267" y="2624328"/>
            <a:ext cx="19372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sz="1200"/>
              <a:t># Local density near point 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17772A-0A55-465A-8384-CDDD08A345D8}"/>
              </a:ext>
            </a:extLst>
          </p:cNvPr>
          <p:cNvSpPr>
            <a:spLocks noGrp="1"/>
          </p:cNvSpPr>
          <p:nvPr/>
        </p:nvSpPr>
        <p:spPr>
          <a:xfrm>
            <a:off x="277270" y="6312838"/>
            <a:ext cx="10612939" cy="30777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Higher LOF(e) means e sits in a sparser neighborhood than its peers — the candidate protein fold is more “isolated” within known viral space.</a:t>
            </a:r>
          </a:p>
        </p:txBody>
      </p:sp>
      <p:pic>
        <p:nvPicPr>
          <p:cNvPr id="39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681" y="5091648"/>
            <a:ext cx="3372479" cy="76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1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7F80D129-7F95-4B74-9086-A21F82AFEAEE}"/>
              </a:ext>
            </a:extLst>
          </p:cNvPr>
          <p:cNvSpPr>
            <a:spLocks noGrp="1"/>
          </p:cNvSpPr>
          <p:nvPr/>
        </p:nvSpPr>
        <p:spPr>
          <a:xfrm>
            <a:off x="604172" y="1455547"/>
            <a:ext cx="5537168" cy="120554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 idea
</a:t>
            </a:r>
            <a:r>
              <a:rPr sz="20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 a flexible score-to-probability map while preserving order.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3824F8CA-DA0E-41B4-B7B5-BA177BA30FFE}"/>
              </a:ext>
            </a:extLst>
          </p:cNvPr>
          <p:cNvSpPr>
            <a:spLocks noGrp="1"/>
          </p:cNvSpPr>
          <p:nvPr/>
        </p:nvSpPr>
        <p:spPr>
          <a:xfrm>
            <a:off x="6965723" y="1993288"/>
            <a:ext cx="3911632" cy="54873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0" tIns="0" rIns="0" bIns="0">
            <a:normAutofit/>
          </a:bodyPr>
          <a:lstStyle/>
          <a:p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Input: scalar model or fusion scores</a:t>
            </a:r>
          </a:p>
        </p:txBody>
      </p:sp>
      <p:sp>
        <p:nvSpPr>
          <p:cNvPr id="5" name="Google-Shape-340-p61-6">
            <a:extLst>
              <a:ext uri="{FF2B5EF4-FFF2-40B4-BE49-F238E27FC236}">
                <a16:creationId xmlns:a16="http://schemas.microsoft.com/office/drawing/2014/main" id="{2D032CB3-6E5C-4FE2-B6E8-C3D464D3519D}"/>
              </a:ext>
            </a:extLst>
          </p:cNvPr>
          <p:cNvSpPr>
            <a:spLocks noGrp="1"/>
          </p:cNvSpPr>
          <p:nvPr/>
        </p:nvSpPr>
        <p:spPr>
          <a:xfrm>
            <a:off x="6586723" y="201814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6" name="TextBox-11-7">
            <a:extLst>
              <a:ext uri="{FF2B5EF4-FFF2-40B4-BE49-F238E27FC236}">
                <a16:creationId xmlns:a16="http://schemas.microsoft.com/office/drawing/2014/main" id="{FD9507F8-52BA-4687-9C3E-DDC7D2481F0C}"/>
              </a:ext>
            </a:extLst>
          </p:cNvPr>
          <p:cNvSpPr>
            <a:spLocks noGrp="1"/>
          </p:cNvSpPr>
          <p:nvPr/>
        </p:nvSpPr>
        <p:spPr>
          <a:xfrm>
            <a:off x="604172" y="2990279"/>
            <a:ext cx="5537168" cy="288464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Calibration data:  </a:t>
            </a:r>
            <a:r>
              <a:rPr sz="15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(score, label)
(1,0), (2,0), (3,1), (4,0), (5,1), (6,1)
</a:t>
            </a:r>
            <a:r>
              <a:rPr sz="1575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Monotonic constraint:  </a:t>
            </a:r>
            <a:r>
              <a:rPr sz="15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sᵢ ≤ sⱼ  ⇒  g(sᵢ) ≤ g(sⱼ)
</a:t>
            </a:r>
            <a:r>
              <a:rPr sz="15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PAVA pools the violation 1 → 0:
</a:t>
            </a:r>
            <a:r>
              <a:rPr sz="15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0, 0, 1, 0, 1, 1  →  0, 0, 0.5, 0.5, 1, 1</a:t>
            </a:r>
          </a:p>
          <a:p>
            <a:pPr algn="l">
              <a:lnSpc>
                <a:spcPct val="11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5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66883E4A-3060-4240-ADFB-4939FEB6DD14}"/>
              </a:ext>
            </a:extLst>
          </p:cNvPr>
          <p:cNvSpPr>
            <a:spLocks noGrp="1"/>
          </p:cNvSpPr>
          <p:nvPr/>
        </p:nvSpPr>
        <p:spPr>
          <a:xfrm>
            <a:off x="6965723" y="2602888"/>
            <a:ext cx="3911632" cy="54873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0" tIns="0" rIns="0" bIns="0">
            <a:normAutofit/>
          </a:bodyPr>
          <a:lstStyle/>
          <a:p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 truth: binary labels from calibration data</a:t>
            </a:r>
          </a:p>
        </p:txBody>
      </p:sp>
      <p:sp>
        <p:nvSpPr>
          <p:cNvPr id="8" name="Google-Shape-340-p61-9">
            <a:extLst>
              <a:ext uri="{FF2B5EF4-FFF2-40B4-BE49-F238E27FC236}">
                <a16:creationId xmlns:a16="http://schemas.microsoft.com/office/drawing/2014/main" id="{DB81EE36-84C6-44DA-8230-D24E9704334E}"/>
              </a:ext>
            </a:extLst>
          </p:cNvPr>
          <p:cNvSpPr>
            <a:spLocks noGrp="1"/>
          </p:cNvSpPr>
          <p:nvPr/>
        </p:nvSpPr>
        <p:spPr>
          <a:xfrm>
            <a:off x="6586723" y="262774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9" name="Content-Placeholder-10-10">
            <a:extLst>
              <a:ext uri="{FF2B5EF4-FFF2-40B4-BE49-F238E27FC236}">
                <a16:creationId xmlns:a16="http://schemas.microsoft.com/office/drawing/2014/main" id="{E668D899-6C7A-43E1-96CE-E0F598082B34}"/>
              </a:ext>
            </a:extLst>
          </p:cNvPr>
          <p:cNvSpPr>
            <a:spLocks noGrp="1"/>
          </p:cNvSpPr>
          <p:nvPr/>
        </p:nvSpPr>
        <p:spPr>
          <a:xfrm>
            <a:off x="6965723" y="3217822"/>
            <a:ext cx="3911632" cy="54873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0" tIns="0" rIns="0" bIns="0">
            <a:normAutofit/>
          </a:bodyPr>
          <a:lstStyle/>
          <a:p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Fit: best non-decreasing step function g</a:t>
            </a:r>
          </a:p>
        </p:txBody>
      </p:sp>
      <p:sp>
        <p:nvSpPr>
          <p:cNvPr id="10" name="Google-Shape-340-p61-11">
            <a:extLst>
              <a:ext uri="{FF2B5EF4-FFF2-40B4-BE49-F238E27FC236}">
                <a16:creationId xmlns:a16="http://schemas.microsoft.com/office/drawing/2014/main" id="{7F72FE4A-FBAE-4EB7-9897-F29B583AA2AA}"/>
              </a:ext>
            </a:extLst>
          </p:cNvPr>
          <p:cNvSpPr>
            <a:spLocks noGrp="1"/>
          </p:cNvSpPr>
          <p:nvPr/>
        </p:nvSpPr>
        <p:spPr>
          <a:xfrm>
            <a:off x="6586723" y="3242587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1" name="Content-Placeholder-10-12">
            <a:extLst>
              <a:ext uri="{FF2B5EF4-FFF2-40B4-BE49-F238E27FC236}">
                <a16:creationId xmlns:a16="http://schemas.microsoft.com/office/drawing/2014/main" id="{6E3909C2-18F5-4D9A-80DE-0B48F7123C32}"/>
              </a:ext>
            </a:extLst>
          </p:cNvPr>
          <p:cNvSpPr>
            <a:spLocks noGrp="1"/>
          </p:cNvSpPr>
          <p:nvPr/>
        </p:nvSpPr>
        <p:spPr>
          <a:xfrm>
            <a:off x="6965723" y="3827326"/>
            <a:ext cx="3911632" cy="54873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0" tIns="0" rIns="0" bIns="0">
            <a:normAutofit/>
          </a:bodyPr>
          <a:lstStyle/>
          <a:p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Algorithm: Pool-Adjacent-Violators (PAVA)</a:t>
            </a:r>
          </a:p>
        </p:txBody>
      </p:sp>
      <p:sp>
        <p:nvSpPr>
          <p:cNvPr id="12" name="Google-Shape-340-p61-13">
            <a:extLst>
              <a:ext uri="{FF2B5EF4-FFF2-40B4-BE49-F238E27FC236}">
                <a16:creationId xmlns:a16="http://schemas.microsoft.com/office/drawing/2014/main" id="{0077EA72-CD7C-4817-BE0B-5A8B0C32F657}"/>
              </a:ext>
            </a:extLst>
          </p:cNvPr>
          <p:cNvSpPr>
            <a:spLocks noGrp="1"/>
          </p:cNvSpPr>
          <p:nvPr/>
        </p:nvSpPr>
        <p:spPr>
          <a:xfrm>
            <a:off x="6586723" y="3852187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3" name="Content-Placeholder-10-14">
            <a:extLst>
              <a:ext uri="{FF2B5EF4-FFF2-40B4-BE49-F238E27FC236}">
                <a16:creationId xmlns:a16="http://schemas.microsoft.com/office/drawing/2014/main" id="{6BF70513-7BF1-4105-838C-81D23816F3AF}"/>
              </a:ext>
            </a:extLst>
          </p:cNvPr>
          <p:cNvSpPr>
            <a:spLocks noGrp="1"/>
          </p:cNvSpPr>
          <p:nvPr/>
        </p:nvSpPr>
        <p:spPr>
          <a:xfrm>
            <a:off x="6965723" y="4449690"/>
            <a:ext cx="3911632" cy="54873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0" tIns="0" rIns="0" bIns="0">
            <a:normAutofit/>
          </a:bodyPr>
          <a:lstStyle/>
          <a:p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Output: empirical P(Y = 1 | score)</a:t>
            </a:r>
          </a:p>
        </p:txBody>
      </p:sp>
      <p:sp>
        <p:nvSpPr>
          <p:cNvPr id="14" name="Google-Shape-340-p61-15">
            <a:extLst>
              <a:ext uri="{FF2B5EF4-FFF2-40B4-BE49-F238E27FC236}">
                <a16:creationId xmlns:a16="http://schemas.microsoft.com/office/drawing/2014/main" id="{8E24F593-86FF-4745-BE93-8C8F3D937230}"/>
              </a:ext>
            </a:extLst>
          </p:cNvPr>
          <p:cNvSpPr>
            <a:spLocks noGrp="1"/>
          </p:cNvSpPr>
          <p:nvPr/>
        </p:nvSpPr>
        <p:spPr>
          <a:xfrm>
            <a:off x="6586723" y="4474550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6BF24F-5F51-4E72-9DE1-75C6C10F619A}"/>
              </a:ext>
            </a:extLst>
          </p:cNvPr>
          <p:cNvSpPr>
            <a:spLocks noGrp="1"/>
          </p:cNvSpPr>
          <p:nvPr/>
        </p:nvSpPr>
        <p:spPr>
          <a:xfrm>
            <a:off x="5848175" y="3244334"/>
            <a:ext cx="495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↗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D9FE6D-645E-40B6-A244-BA93257E4830}"/>
              </a:ext>
            </a:extLst>
          </p:cNvPr>
          <p:cNvSpPr>
            <a:spLocks noGrp="1"/>
          </p:cNvSpPr>
          <p:nvPr/>
        </p:nvSpPr>
        <p:spPr>
          <a:xfrm>
            <a:off x="5848175" y="3244334"/>
            <a:ext cx="495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↗</a:t>
            </a: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C4CECE51-5976-44F8-B4B6-AA7498FB0AAA}"/>
              </a:ext>
            </a:extLst>
          </p:cNvPr>
          <p:cNvSpPr>
            <a:spLocks noGrp="1"/>
          </p:cNvSpPr>
          <p:nvPr/>
        </p:nvSpPr>
        <p:spPr>
          <a:xfrm>
            <a:off x="457200" y="366489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Probabilistic Calibration</a:t>
            </a: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45D99FD7-4836-4E23-B326-7B8EE88D23B8}"/>
              </a:ext>
            </a:extLst>
          </p:cNvPr>
          <p:cNvSpPr>
            <a:spLocks noGrp="1"/>
          </p:cNvSpPr>
          <p:nvPr/>
        </p:nvSpPr>
        <p:spPr>
          <a:xfrm>
            <a:off x="457200" y="604233"/>
            <a:ext cx="561981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Isotonic Regression</a:t>
            </a:r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CCF3233F-9DD7-4D57-AE6B-77ADA2BBAF8F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5486A276-4B4F-414D-917A-ADDA3124389C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5542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A24404-CFCA-4D25-95DE-EA33345C35F0}"/>
              </a:ext>
            </a:extLst>
          </p:cNvPr>
          <p:cNvSpPr>
            <a:spLocks noGrp="1"/>
          </p:cNvSpPr>
          <p:nvPr/>
        </p:nvSpPr>
        <p:spPr>
          <a:xfrm>
            <a:off x="9281160" y="457200"/>
            <a:ext cx="2450592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79B887-55E2-4C27-9E07-718EE706A359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↗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8A70388-C613-4392-99F6-09AA72D05AF2}"/>
              </a:ext>
            </a:extLst>
          </p:cNvPr>
          <p:cNvSpPr>
            <a:spLocks noGrp="1"/>
          </p:cNvSpPr>
          <p:nvPr/>
        </p:nvSpPr>
        <p:spPr>
          <a:xfrm>
            <a:off x="457200" y="373704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Probabilistic Calibration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CF7281-77C2-49D8-B5A4-C0D8EEFC142C}"/>
              </a:ext>
            </a:extLst>
          </p:cNvPr>
          <p:cNvSpPr>
            <a:spLocks noGrp="1"/>
          </p:cNvSpPr>
          <p:nvPr/>
        </p:nvSpPr>
        <p:spPr>
          <a:xfrm>
            <a:off x="457200" y="629786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Aligning Channel A and B Before Fusion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5583C30-ECC4-4DD8-8241-7E3442A08AC0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FBF3011-C848-4414-B458-246FED46E2D3}"/>
              </a:ext>
            </a:extLst>
          </p:cNvPr>
          <p:cNvSpPr>
            <a:spLocks noGrp="1"/>
          </p:cNvSpPr>
          <p:nvPr/>
        </p:nvSpPr>
        <p:spPr>
          <a:xfrm>
            <a:off x="457199" y="1600200"/>
            <a:ext cx="5695827" cy="44805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r>
              <a:rPr sz="1400" b="1" dirty="0"/>
              <a:t>Level Alignment Before Fusion</a:t>
            </a:r>
          </a:p>
          <a:p>
            <a:pPr marL="285750" indent="-285750">
              <a:lnSpc>
                <a:spcPct val="150000"/>
              </a:lnSpc>
              <a:buChar char="q"/>
            </a:pPr>
            <a:r>
              <a:rPr sz="1600" dirty="0"/>
              <a:t>Channel A scores contigs, whereas Channel B initially scores individual ORFs. </a:t>
            </a:r>
          </a:p>
          <a:p>
            <a:pPr marL="285750" indent="-285750">
              <a:lnSpc>
                <a:spcPct val="150000"/>
              </a:lnSpc>
              <a:buChar char="q"/>
            </a:pPr>
            <a:r>
              <a:rPr sz="1600" dirty="0"/>
              <a:t>Aggregate Channel B ORF evidence within each contig using prespecified features such as the maximum, top-q mean, and high-score proportion. </a:t>
            </a:r>
          </a:p>
          <a:p>
            <a:pPr marL="342900" indent="-342900">
              <a:lnSpc>
                <a:spcPct val="150000"/>
              </a:lnSpc>
              <a:buChar char="q"/>
            </a:pPr>
            <a:r>
              <a:rPr sz="1600" dirty="0"/>
              <a:t>Pair the Channel A score and aggregated Channel B evidence with the same contig-level Aim 3 label. </a:t>
            </a:r>
          </a:p>
          <a:p>
            <a:pPr marL="285750" indent="-285750">
              <a:lnSpc>
                <a:spcPct val="150000"/>
              </a:lnSpc>
              <a:buChar char="q"/>
            </a:pPr>
            <a:r>
              <a:rPr sz="1600" dirty="0"/>
              <a:t>These aligned features—not separately calibrated probabilities—enter the fusion model. </a:t>
            </a:r>
          </a:p>
          <a:p>
            <a:pPr marL="285750" indent="-285750">
              <a:lnSpc>
                <a:spcPct val="150000"/>
              </a:lnSpc>
              <a:buChar char="q"/>
            </a:pPr>
            <a:r>
              <a:rPr sz="1600" dirty="0"/>
              <a:t>Output: one aligned evidence vector for each contig.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50DABFB-E152-413D-9FAE-004413623B9A}"/>
              </a:ext>
            </a:extLst>
          </p:cNvPr>
          <p:cNvSpPr>
            <a:spLocks noGrp="1"/>
          </p:cNvSpPr>
          <p:nvPr/>
        </p:nvSpPr>
        <p:spPr>
          <a:xfrm>
            <a:off x="6247416" y="1600200"/>
            <a:ext cx="5456903" cy="4480560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9742217-E7A2-4A16-A8B4-658BC8629ABF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00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Contig-Level Feature Construction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A05A66B-398F-4971-BBAC-AEB71995512B}"/>
              </a:ext>
            </a:extLst>
          </p:cNvPr>
          <p:cNvSpPr>
            <a:spLocks noGrp="1"/>
          </p:cNvSpPr>
          <p:nvPr/>
        </p:nvSpPr>
        <p:spPr>
          <a:xfrm>
            <a:off x="6309360" y="2130552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550" dirty="0" err="1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x_A</a:t>
            </a:r>
            <a:r>
              <a:rPr sz="1550" dirty="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(c) = Channel A contig score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E3CE1B5-C5FA-4C1D-9250-35571F9B288C}"/>
              </a:ext>
            </a:extLst>
          </p:cNvPr>
          <p:cNvSpPr>
            <a:spLocks noGrp="1"/>
          </p:cNvSpPr>
          <p:nvPr/>
        </p:nvSpPr>
        <p:spPr>
          <a:xfrm>
            <a:off x="6309360" y="2551176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x_B(c) = Aggregate{ LOF(o) : o ∈ O(c) }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4E3121F-A3EC-4877-A7DE-FFC5B667A2D2}"/>
              </a:ext>
            </a:extLst>
          </p:cNvPr>
          <p:cNvSpPr>
            <a:spLocks noGrp="1"/>
          </p:cNvSpPr>
          <p:nvPr/>
        </p:nvSpPr>
        <p:spPr>
          <a:xfrm>
            <a:off x="6309360" y="2971800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X_c = [ x_A(c), x_B(c), length, ORF count ]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A0CE36E-ECC5-4AAB-9A1A-94B19F53D183}"/>
              </a:ext>
            </a:extLst>
          </p:cNvPr>
          <p:cNvSpPr>
            <a:spLocks noGrp="1"/>
          </p:cNvSpPr>
          <p:nvPr/>
        </p:nvSpPr>
        <p:spPr>
          <a:xfrm>
            <a:off x="6309360" y="3392424"/>
            <a:ext cx="5120640" cy="4206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0B2545"/>
                </a:solidFill>
                <a:latin typeface="Courier New"/>
                <a:ea typeface="Courier New"/>
                <a:cs typeface="Courier New"/>
              </a:rPr>
              <a:t>Target: y_c = predefined contig-level truth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F082640-A1B7-48A0-96DF-B13DEF2F3D32}"/>
              </a:ext>
            </a:extLst>
          </p:cNvPr>
          <p:cNvSpPr>
            <a:spLocks noGrp="1"/>
          </p:cNvSpPr>
          <p:nvPr/>
        </p:nvSpPr>
        <p:spPr>
          <a:xfrm>
            <a:off x="6309360" y="3849624"/>
            <a:ext cx="5120640" cy="1408176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lnSpc>
                <a:spcPct val="150000"/>
              </a:lnSpc>
              <a:buNone/>
            </a:pPr>
            <a:r>
              <a:rPr sz="1600" i="1" dirty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Level alignment prevents ORF-level and contig-level quantities from being pooled as if they were the same statistical unit.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7901660-ED55-41D6-8E53-4E52A1474C65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2861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321EB1E5-9EFA-4A16-8A75-D91CDF66D4DF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12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σ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815A90-BF8C-4666-9821-2DE27FBB090B}"/>
              </a:ext>
            </a:extLst>
          </p:cNvPr>
          <p:cNvSpPr>
            <a:spLocks noGrp="1"/>
          </p:cNvSpPr>
          <p:nvPr/>
        </p:nvSpPr>
        <p:spPr>
          <a:xfrm>
            <a:off x="457200" y="449437"/>
            <a:ext cx="8138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Novelty and Concern Score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D13863-2C12-47D3-B774-0D834BB93A12}"/>
              </a:ext>
            </a:extLst>
          </p:cNvPr>
          <p:cNvSpPr>
            <a:spLocks noGrp="1"/>
          </p:cNvSpPr>
          <p:nvPr/>
        </p:nvSpPr>
        <p:spPr>
          <a:xfrm>
            <a:off x="457200" y="687181"/>
            <a:ext cx="813816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500" b="1" dirty="0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Fusion, Final Calibration &amp; Reliability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B056029-9730-458F-848D-6796D79A017B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0A3CCC6-057E-4C94-96E9-6EC77AA8FCBF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5394960" cy="448056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2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Logistic regression combines aligned contig-level evidence and its interaction into a scalar fusion score </a:t>
            </a:r>
            <a:r>
              <a:rPr dirty="0" err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z_c</a:t>
            </a:r>
            <a:endParaRPr dirty="0">
              <a:solidFill>
                <a:srgbClr val="0B2545"/>
              </a:solidFill>
              <a:latin typeface="Calibri"/>
              <a:ea typeface="Calibri"/>
              <a:cs typeface="Calibri"/>
            </a:endParaRPr>
          </a:p>
          <a:p>
            <a:pPr marL="177800" indent="-177800">
              <a:spcAft>
                <a:spcPts val="12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logistic output is treated as a fusion score—not automatically as a calibrated probability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Isotonic regression fitted on an independent calibration set maps </a:t>
            </a:r>
            <a:r>
              <a:rPr dirty="0" err="1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z_c</a:t>
            </a: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 to the final NCS (</a:t>
            </a:r>
            <a:r>
              <a:rPr b="1" dirty="0"/>
              <a:t>Novelty and Concern Score</a:t>
            </a: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) probability.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Reliability diagram: predicted-probability bins vs. observed positive rates on independent test data</a:t>
            </a:r>
          </a:p>
          <a:p>
            <a:pPr marL="177800" indent="-177800">
              <a:spcAft>
                <a:spcPts val="1200"/>
              </a:spcAft>
              <a:buChar char="•"/>
            </a:pPr>
            <a:r>
              <a:rPr dirty="0">
                <a:solidFill>
                  <a:srgbClr val="0B2545"/>
                </a:solidFill>
                <a:latin typeface="Calibri"/>
                <a:ea typeface="Calibri"/>
                <a:cs typeface="Calibri"/>
              </a:rPr>
              <a:t>The Brier score measures mean squared probabilistic error—lower is better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5BC186F-EBD5-4AE1-BE20-A4B74F8804B2}"/>
              </a:ext>
            </a:extLst>
          </p:cNvPr>
          <p:cNvSpPr>
            <a:spLocks noGrp="1"/>
          </p:cNvSpPr>
          <p:nvPr/>
        </p:nvSpPr>
        <p:spPr>
          <a:xfrm>
            <a:off x="6035040" y="1600200"/>
            <a:ext cx="5669280" cy="4061564"/>
          </a:xfrm>
          <a:prstGeom prst="roundRect">
            <a:avLst>
              <a:gd name="adj" fmla="val 1633"/>
            </a:avLst>
          </a:prstGeom>
          <a:solidFill>
            <a:srgbClr val="EEF3F7"/>
          </a:solidFill>
          <a:ln w="12700">
            <a:solidFill>
              <a:srgbClr val="C7D6E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8002F6-E7DA-4F58-80E3-2A8B928F53DF}"/>
              </a:ext>
            </a:extLst>
          </p:cNvPr>
          <p:cNvSpPr>
            <a:spLocks noGrp="1"/>
          </p:cNvSpPr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Fusion → Calibration → Diagnostics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458DB1F-4B2B-4AE1-B58E-7834F1E861CA}"/>
              </a:ext>
            </a:extLst>
          </p:cNvPr>
          <p:cNvSpPr>
            <a:spLocks noGrp="1"/>
          </p:cNvSpPr>
          <p:nvPr/>
        </p:nvSpPr>
        <p:spPr>
          <a:xfrm>
            <a:off x="6309360" y="2624328"/>
            <a:ext cx="5120640" cy="7680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18FA7E-9F56-4930-98F4-0FE53B2237EF}"/>
              </a:ext>
            </a:extLst>
          </p:cNvPr>
          <p:cNvSpPr>
            <a:spLocks noGrp="1"/>
          </p:cNvSpPr>
          <p:nvPr/>
        </p:nvSpPr>
        <p:spPr>
          <a:xfrm>
            <a:off x="6309360" y="3392424"/>
            <a:ext cx="512064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6C2A3BB-0941-45E1-A47C-6359203203C9}"/>
              </a:ext>
            </a:extLst>
          </p:cNvPr>
          <p:cNvSpPr>
            <a:spLocks noGrp="1"/>
          </p:cNvSpPr>
          <p:nvPr/>
        </p:nvSpPr>
        <p:spPr>
          <a:xfrm>
            <a:off x="6309360" y="3932476"/>
            <a:ext cx="5120640" cy="1611724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r>
              <a:rPr sz="1400" dirty="0"/>
              <a:t>BS (Brier score): The Brier score is an error metric used to evaluate the accuracy of probability predictions. A lower score indicates better performance.</a:t>
            </a:r>
          </a:p>
          <a:p>
            <a:pPr marL="0" indent="0">
              <a:buNone/>
            </a:pPr>
            <a:endParaRPr sz="1400" dirty="0"/>
          </a:p>
          <a:p>
            <a:pPr marL="0" indent="0">
              <a:buNone/>
            </a:pPr>
            <a:r>
              <a:rPr sz="1400" i="1" dirty="0">
                <a:latin typeface="Calibri"/>
                <a:ea typeface="Calibri"/>
                <a:cs typeface="Calibri"/>
              </a:rPr>
              <a:t>Fit fusion, calibration, and final reliability evaluation on separate data splits (or by nested cross-fitting) to avoid optimistic probabilities.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764C34A-F561-4CFA-95CD-EF9E7218C55C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31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702" y="2118160"/>
            <a:ext cx="3829315" cy="170941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67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CEA40E-5B7B-4A3F-B7FE-FF2212598F32}"/>
              </a:ext>
            </a:extLst>
          </p:cNvPr>
          <p:cNvSpPr>
            <a:spLocks noGrp="1"/>
          </p:cNvSpPr>
          <p:nvPr/>
        </p:nvSpPr>
        <p:spPr>
          <a:xfrm>
            <a:off x="393192" y="251460"/>
            <a:ext cx="731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b="1">
                <a:latin typeface="Calibri"/>
                <a:ea typeface="Calibri"/>
                <a:cs typeface="Calibri"/>
              </a:rPr>
              <a:t>Summary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C20187-9FC0-4263-9A22-6466F4F09457}"/>
              </a:ext>
            </a:extLst>
          </p:cNvPr>
          <p:cNvSpPr>
            <a:spLocks noGrp="1"/>
          </p:cNvSpPr>
          <p:nvPr/>
        </p:nvSpPr>
        <p:spPr>
          <a:xfrm>
            <a:off x="393192" y="640080"/>
            <a:ext cx="10515600" cy="7315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2600" b="1" dirty="0">
                <a:latin typeface="Cambria"/>
                <a:ea typeface="Cambria"/>
                <a:cs typeface="Cambria"/>
              </a:rPr>
              <a:t>How Dual-Channel Evidence Becomes a Trusted Alert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BD99066-3505-4049-B0DD-04BA6D7330C1}"/>
              </a:ext>
            </a:extLst>
          </p:cNvPr>
          <p:cNvSpPr>
            <a:spLocks noGrp="1"/>
          </p:cNvSpPr>
          <p:nvPr/>
        </p:nvSpPr>
        <p:spPr>
          <a:xfrm>
            <a:off x="697700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40092B-4F84-4CF0-B3F9-65B9526C8B9E}"/>
              </a:ext>
            </a:extLst>
          </p:cNvPr>
          <p:cNvSpPr>
            <a:spLocks noGrp="1"/>
          </p:cNvSpPr>
          <p:nvPr/>
        </p:nvSpPr>
        <p:spPr>
          <a:xfrm>
            <a:off x="834860" y="2130552"/>
            <a:ext cx="1810512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600" b="1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Set Similarity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5D45052-E1C9-40AF-A12E-61CCA609B1D7}"/>
              </a:ext>
            </a:extLst>
          </p:cNvPr>
          <p:cNvSpPr>
            <a:spLocks noGrp="1"/>
          </p:cNvSpPr>
          <p:nvPr/>
        </p:nvSpPr>
        <p:spPr>
          <a:xfrm>
            <a:off x="834860" y="2679192"/>
            <a:ext cx="1810512" cy="362628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buNone/>
            </a:pPr>
            <a:r>
              <a:rPr sz="1100" dirty="0">
                <a:latin typeface="Calibri"/>
                <a:ea typeface="Calibri"/>
                <a:cs typeface="Calibri"/>
              </a:rPr>
              <a:t>k-</a:t>
            </a:r>
            <a:r>
              <a:rPr sz="1100" dirty="0" err="1">
                <a:latin typeface="Calibri"/>
                <a:ea typeface="Calibri"/>
                <a:cs typeface="Calibri"/>
              </a:rPr>
              <a:t>mer</a:t>
            </a:r>
            <a:r>
              <a:rPr sz="1100" dirty="0">
                <a:latin typeface="Calibri"/>
                <a:ea typeface="Calibri"/>
                <a:cs typeface="Calibri"/>
              </a:rPr>
              <a:t> / </a:t>
            </a:r>
            <a:r>
              <a:rPr sz="1100" dirty="0" err="1">
                <a:latin typeface="Calibri"/>
                <a:ea typeface="Calibri"/>
                <a:cs typeface="Calibri"/>
              </a:rPr>
              <a:t>FracMinHash</a:t>
            </a:r>
            <a:endParaRPr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43FC90-20DC-4600-8F92-7DF6872DB650}"/>
              </a:ext>
            </a:extLst>
          </p:cNvPr>
          <p:cNvSpPr>
            <a:spLocks noGrp="1"/>
          </p:cNvSpPr>
          <p:nvPr/>
        </p:nvSpPr>
        <p:spPr>
          <a:xfrm>
            <a:off x="2782532" y="2446020"/>
            <a:ext cx="1645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0A9B329-9530-43D8-934A-C61EDC89FE5D}"/>
              </a:ext>
            </a:extLst>
          </p:cNvPr>
          <p:cNvSpPr>
            <a:spLocks noGrp="1"/>
          </p:cNvSpPr>
          <p:nvPr/>
        </p:nvSpPr>
        <p:spPr>
          <a:xfrm>
            <a:off x="2947124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646BE3-7804-4BF5-8D20-C31C3F2963B1}"/>
              </a:ext>
            </a:extLst>
          </p:cNvPr>
          <p:cNvSpPr>
            <a:spLocks noGrp="1"/>
          </p:cNvSpPr>
          <p:nvPr/>
        </p:nvSpPr>
        <p:spPr>
          <a:xfrm>
            <a:off x="3084284" y="2130552"/>
            <a:ext cx="1862416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400" b="1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Embedding Geometry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B181E3D-5C94-4F78-895D-45ABF85A0800}"/>
              </a:ext>
            </a:extLst>
          </p:cNvPr>
          <p:cNvSpPr>
            <a:spLocks noGrp="1"/>
          </p:cNvSpPr>
          <p:nvPr/>
        </p:nvSpPr>
        <p:spPr>
          <a:xfrm>
            <a:off x="3032314" y="2679192"/>
            <a:ext cx="1914386" cy="433526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buNone/>
            </a:pPr>
            <a:r>
              <a:rPr sz="1100" dirty="0">
                <a:latin typeface="Calibri"/>
                <a:ea typeface="Calibri"/>
                <a:cs typeface="Calibri"/>
              </a:rPr>
              <a:t>ESM-2 + density outlier detection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7DCEA0-5558-412C-A298-63361BA70D92}"/>
              </a:ext>
            </a:extLst>
          </p:cNvPr>
          <p:cNvSpPr>
            <a:spLocks noGrp="1"/>
          </p:cNvSpPr>
          <p:nvPr/>
        </p:nvSpPr>
        <p:spPr>
          <a:xfrm>
            <a:off x="5031956" y="2446020"/>
            <a:ext cx="1645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B5B410C-660A-4EC9-B3B6-38C3F1CB6631}"/>
              </a:ext>
            </a:extLst>
          </p:cNvPr>
          <p:cNvSpPr>
            <a:spLocks noGrp="1"/>
          </p:cNvSpPr>
          <p:nvPr/>
        </p:nvSpPr>
        <p:spPr>
          <a:xfrm>
            <a:off x="5196548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9E75910-0009-41A4-BF72-7A116F2ACA1C}"/>
              </a:ext>
            </a:extLst>
          </p:cNvPr>
          <p:cNvSpPr>
            <a:spLocks noGrp="1"/>
          </p:cNvSpPr>
          <p:nvPr/>
        </p:nvSpPr>
        <p:spPr>
          <a:xfrm>
            <a:off x="5333707" y="2130552"/>
            <a:ext cx="1895703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pPr marL="0" indent="0">
              <a:buNone/>
            </a:pPr>
            <a:r>
              <a:rPr sz="1200" b="1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Probabilistic Calibration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B8F46DF-1369-4954-B678-B251C5C992C4}"/>
              </a:ext>
            </a:extLst>
          </p:cNvPr>
          <p:cNvSpPr>
            <a:spLocks noGrp="1"/>
          </p:cNvSpPr>
          <p:nvPr/>
        </p:nvSpPr>
        <p:spPr>
          <a:xfrm>
            <a:off x="5333708" y="2679192"/>
            <a:ext cx="1810512" cy="502419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0" indent="0">
              <a:buNone/>
            </a:pPr>
            <a:r>
              <a:rPr sz="1100" dirty="0">
                <a:latin typeface="Calibri"/>
                <a:ea typeface="Calibri"/>
                <a:cs typeface="Calibri"/>
              </a:rPr>
              <a:t>Logistic fusion → isotonic → NCS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5F58616-4D1D-4E58-AF41-D80306B48100}"/>
              </a:ext>
            </a:extLst>
          </p:cNvPr>
          <p:cNvSpPr>
            <a:spLocks noGrp="1"/>
          </p:cNvSpPr>
          <p:nvPr/>
        </p:nvSpPr>
        <p:spPr>
          <a:xfrm>
            <a:off x="7281380" y="2446020"/>
            <a:ext cx="1645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60D4670-845B-4279-BEA7-5F0FF08A41C3}"/>
              </a:ext>
            </a:extLst>
          </p:cNvPr>
          <p:cNvSpPr>
            <a:spLocks noGrp="1"/>
          </p:cNvSpPr>
          <p:nvPr/>
        </p:nvSpPr>
        <p:spPr>
          <a:xfrm>
            <a:off x="7445972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3C33273-687E-4CDB-AB68-A5C12CCDA3D2}"/>
              </a:ext>
            </a:extLst>
          </p:cNvPr>
          <p:cNvSpPr>
            <a:spLocks noGrp="1"/>
          </p:cNvSpPr>
          <p:nvPr/>
        </p:nvSpPr>
        <p:spPr>
          <a:xfrm>
            <a:off x="7671303" y="2057401"/>
            <a:ext cx="1810512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r>
              <a:rPr lang="en-US" sz="1400" b="1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reliability evaluation</a:t>
            </a:r>
            <a:endParaRPr sz="1400" b="1" dirty="0">
              <a:solidFill>
                <a:srgbClr val="E8A3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D835041-2599-4349-BF8F-99A248120759}"/>
              </a:ext>
            </a:extLst>
          </p:cNvPr>
          <p:cNvSpPr>
            <a:spLocks noGrp="1"/>
          </p:cNvSpPr>
          <p:nvPr/>
        </p:nvSpPr>
        <p:spPr>
          <a:xfrm>
            <a:off x="7583132" y="2679192"/>
            <a:ext cx="1810512" cy="433526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r>
              <a:rPr lang="en-US" altLang="zh-CN" sz="1100" dirty="0"/>
              <a:t>Computing </a:t>
            </a:r>
            <a:r>
              <a:rPr lang="en-US" sz="1100" dirty="0"/>
              <a:t>BS (Brier score)</a:t>
            </a:r>
            <a:endParaRPr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274A0F8-8EDB-4CB9-A5FF-907CDC171697}"/>
              </a:ext>
            </a:extLst>
          </p:cNvPr>
          <p:cNvSpPr>
            <a:spLocks noGrp="1"/>
          </p:cNvSpPr>
          <p:nvPr/>
        </p:nvSpPr>
        <p:spPr>
          <a:xfrm>
            <a:off x="822960" y="3745908"/>
            <a:ext cx="10332720" cy="0"/>
          </a:xfrm>
          <a:prstGeom prst="line">
            <a:avLst/>
          </a:prstGeom>
          <a:noFill/>
          <a:ln w="12700">
            <a:solidFill>
              <a:srgbClr val="22456B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6AE141A-359F-4935-8CC2-DA6BBDED3ADC}"/>
              </a:ext>
            </a:extLst>
          </p:cNvPr>
          <p:cNvSpPr>
            <a:spLocks noGrp="1"/>
          </p:cNvSpPr>
          <p:nvPr/>
        </p:nvSpPr>
        <p:spPr>
          <a:xfrm>
            <a:off x="822960" y="4013089"/>
            <a:ext cx="10332720" cy="2399359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t"/>
          <a:lstStyle/>
          <a:p>
            <a:pPr marL="177800" indent="-177800">
              <a:spcAft>
                <a:spcPts val="1000"/>
              </a:spcAft>
              <a:buChar char="•"/>
            </a:pPr>
            <a:r>
              <a:rPr dirty="0">
                <a:latin typeface="Calibri"/>
                <a:ea typeface="Calibri"/>
                <a:cs typeface="Calibri"/>
              </a:rPr>
              <a:t>Every step produces an interpretable, auditable intermediate quantity — not a black-box score</a:t>
            </a:r>
          </a:p>
          <a:p>
            <a:pPr marL="177800" indent="-177800">
              <a:spcAft>
                <a:spcPts val="1000"/>
              </a:spcAft>
              <a:buChar char="•"/>
            </a:pPr>
            <a:r>
              <a:rPr dirty="0">
                <a:latin typeface="Calibri"/>
                <a:ea typeface="Calibri"/>
                <a:cs typeface="Calibri"/>
              </a:rPr>
              <a:t>Logistic fusion combines aligned contig-level evidence; isotonic regression calibrates the final NCS probability</a:t>
            </a:r>
          </a:p>
          <a:p>
            <a:pPr marL="177800" indent="-177800">
              <a:spcAft>
                <a:spcPts val="1000"/>
              </a:spcAft>
              <a:buChar char="•"/>
            </a:pPr>
            <a:r>
              <a:rPr dirty="0">
                <a:latin typeface="Calibri"/>
                <a:ea typeface="Calibri"/>
                <a:cs typeface="Calibri"/>
              </a:rPr>
              <a:t>Held-out-lineage and time-split benchmarks test whether the method generalizes to genuinely unseen viruses</a:t>
            </a:r>
          </a:p>
          <a:p>
            <a:pPr marL="177800" indent="-177800">
              <a:spcAft>
                <a:spcPts val="1000"/>
              </a:spcAft>
              <a:buChar char="•"/>
            </a:pPr>
            <a:r>
              <a:rPr dirty="0">
                <a:latin typeface="Calibri"/>
                <a:ea typeface="Calibri"/>
                <a:cs typeface="Calibri"/>
              </a:rPr>
              <a:t>The evidence-verified dossier converts a high NCS candidate into a reviewable, operational early-warning signal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038F092-4608-42ED-8244-C007CCCF9DAC}"/>
              </a:ext>
            </a:extLst>
          </p:cNvPr>
          <p:cNvSpPr>
            <a:spLocks noGrp="1"/>
          </p:cNvSpPr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C557EC4E-B741-4C56-B094-542868AE1D2E}"/>
              </a:ext>
            </a:extLst>
          </p:cNvPr>
          <p:cNvSpPr>
            <a:spLocks noGrp="1"/>
          </p:cNvSpPr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712BAF62-45E8-4CC9-A72E-DB0D5B2A13AE}"/>
              </a:ext>
            </a:extLst>
          </p:cNvPr>
          <p:cNvSpPr>
            <a:spLocks noGrp="1"/>
          </p:cNvSpPr>
          <p:nvPr/>
        </p:nvSpPr>
        <p:spPr>
          <a:xfrm>
            <a:off x="9756135" y="1948988"/>
            <a:ext cx="2084832" cy="1417320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F09CC5DE-4071-49FB-913E-F3C15EF26085}"/>
              </a:ext>
            </a:extLst>
          </p:cNvPr>
          <p:cNvSpPr>
            <a:spLocks noGrp="1"/>
          </p:cNvSpPr>
          <p:nvPr/>
        </p:nvSpPr>
        <p:spPr>
          <a:xfrm>
            <a:off x="9539573" y="2446020"/>
            <a:ext cx="1645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378A5E70-4AEB-47BF-9C88-E2B68C9207E1}"/>
              </a:ext>
            </a:extLst>
          </p:cNvPr>
          <p:cNvSpPr>
            <a:spLocks noGrp="1"/>
          </p:cNvSpPr>
          <p:nvPr/>
        </p:nvSpPr>
        <p:spPr>
          <a:xfrm>
            <a:off x="10045987" y="2010114"/>
            <a:ext cx="1566818" cy="435906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anchor="ctr"/>
          <a:lstStyle/>
          <a:p>
            <a:r>
              <a:rPr lang="en-US" b="1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Trusted Alert</a:t>
            </a:r>
            <a:endParaRPr b="1" dirty="0">
              <a:solidFill>
                <a:srgbClr val="E8A33D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F6F92F7-195E-4A9E-83AF-9F30492EE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6518" y="2446020"/>
            <a:ext cx="524066" cy="81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8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1846</Words>
  <Application>Microsoft Office PowerPoint</Application>
  <DocSecurity>0</DocSecurity>
  <PresentationFormat>Widescreen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等线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Sihua Peng</cp:lastModifiedBy>
  <cp:revision>18</cp:revision>
  <dcterms:created xsi:type="dcterms:W3CDTF">2026-07-27T19:34:00Z</dcterms:created>
  <dcterms:modified xsi:type="dcterms:W3CDTF">2026-07-27T20:56:22Z</dcterms:modified>
</cp:coreProperties>
</file>