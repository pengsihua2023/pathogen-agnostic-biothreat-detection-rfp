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簇 a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1.9</c:v>
                </c:pt>
                <c:pt idx="2">
                  <c:v>2.3</c:v>
                </c:pt>
                <c:pt idx="3">
                  <c:v>2</c:v>
                </c:pt>
                <c:pt idx="4">
                  <c:v>2.2</c:v>
                </c:pt>
                <c:pt idx="5">
                  <c:v>1.8</c:v>
                </c:pt>
                <c:pt idx="6">
                  <c:v>2.1</c:v>
                </c:pt>
                <c:pt idx="7">
                  <c:v>2.4</c:v>
                </c:pt>
                <c:pt idx="8">
                  <c:v>2</c:v>
                </c:pt>
                <c:pt idx="9">
                  <c:v>2.2</c:v>
                </c:pt>
                <c:pt idx="10">
                  <c:v>1.9</c:v>
                </c:pt>
                <c:pt idx="11">
                  <c:v>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簇 b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1.6</c:v>
                </c:pt>
                <c:pt idx="1">
                  <c:v>1.8</c:v>
                </c:pt>
                <c:pt idx="2">
                  <c:v>1.5</c:v>
                </c:pt>
                <c:pt idx="3">
                  <c:v>1.9</c:v>
                </c:pt>
                <c:pt idx="4">
                  <c:v>1.6</c:v>
                </c:pt>
                <c:pt idx="5">
                  <c:v>1.7</c:v>
                </c:pt>
                <c:pt idx="6">
                  <c:v>1.9</c:v>
                </c:pt>
                <c:pt idx="7">
                  <c:v>1.5</c:v>
                </c:pt>
                <c:pt idx="8">
                  <c:v>1.8</c:v>
                </c:pt>
                <c:pt idx="9">
                  <c:v>1.6</c:v>
                </c:pt>
                <c:pt idx="10">
                  <c:v>1.9</c:v>
                </c:pt>
                <c:pt idx="11">
                  <c:v>1.7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簇 c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2.7</c:v>
                </c:pt>
                <c:pt idx="1">
                  <c:v>2.4</c:v>
                </c:pt>
                <c:pt idx="2">
                  <c:v>2.8</c:v>
                </c:pt>
                <c:pt idx="3">
                  <c:v>2.5</c:v>
                </c:pt>
                <c:pt idx="4">
                  <c:v>2.9</c:v>
                </c:pt>
                <c:pt idx="5">
                  <c:v>2.5</c:v>
                </c:pt>
                <c:pt idx="6">
                  <c:v>2.7</c:v>
                </c:pt>
                <c:pt idx="7">
                  <c:v>2.4</c:v>
                </c:pt>
                <c:pt idx="8">
                  <c:v>2.8</c:v>
                </c:pt>
                <c:pt idx="9">
                  <c:v>2.5</c:v>
                </c:pt>
                <c:pt idx="10">
                  <c:v>2.6</c:v>
                </c:pt>
                <c:pt idx="11">
                  <c:v>2.9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簇 d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1.2</c:v>
                </c:pt>
                <c:pt idx="1">
                  <c:v>1.4</c:v>
                </c:pt>
                <c:pt idx="2">
                  <c:v>1.1</c:v>
                </c:pt>
                <c:pt idx="3">
                  <c:v>1.3</c:v>
                </c:pt>
                <c:pt idx="4">
                  <c:v>1.5</c:v>
                </c:pt>
                <c:pt idx="5">
                  <c:v>1.2</c:v>
                </c:pt>
                <c:pt idx="6">
                  <c:v>1.4</c:v>
                </c:pt>
                <c:pt idx="7">
                  <c:v>1.1</c:v>
                </c:pt>
                <c:pt idx="8">
                  <c:v>1.3</c:v>
                </c:pt>
                <c:pt idx="9">
                  <c:v>1.5</c:v>
                </c:pt>
                <c:pt idx="10">
                  <c:v>1.2</c:v>
                </c:pt>
                <c:pt idx="11">
                  <c:v>1.4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簇 e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</c:v>
                </c:pt>
                <c:pt idx="1">
                  <c:v>3.2</c:v>
                </c:pt>
                <c:pt idx="2">
                  <c:v>2.9</c:v>
                </c:pt>
                <c:pt idx="3">
                  <c:v>3.1</c:v>
                </c:pt>
                <c:pt idx="4">
                  <c:v>2.8</c:v>
                </c:pt>
                <c:pt idx="5">
                  <c:v>3.1</c:v>
                </c:pt>
                <c:pt idx="6">
                  <c:v>2.9</c:v>
                </c:pt>
                <c:pt idx="7">
                  <c:v>3.2</c:v>
                </c:pt>
                <c:pt idx="8">
                  <c:v>3</c:v>
                </c:pt>
                <c:pt idx="9">
                  <c:v>2.8</c:v>
                </c:pt>
                <c:pt idx="10">
                  <c:v>3.1</c:v>
                </c:pt>
                <c:pt idx="11">
                  <c:v>2.9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目标簇</c:v>
                </c:pt>
              </c:strCache>
            </c:strRef>
          </c:tx>
          <c:spPr>
            <a:solidFill>
              <a:srgbClr val="D9531E"/>
            </a:solidFill>
            <a:ln w="25400" cap="flat">
              <a:solidFill>
                <a:srgbClr val="D953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31E"/>
              </a:solidFill>
              <a:ln w="9525" cap="flat">
                <a:solidFill>
                  <a:srgbClr val="D953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</c:v>
                </c:pt>
                <c:pt idx="1">
                  <c:v>1.8</c:v>
                </c:pt>
                <c:pt idx="2">
                  <c:v>2.2</c:v>
                </c:pt>
                <c:pt idx="3">
                  <c:v>1.9</c:v>
                </c:pt>
                <c:pt idx="4">
                  <c:v>2.1</c:v>
                </c:pt>
                <c:pt idx="5">
                  <c:v>2.5</c:v>
                </c:pt>
                <c:pt idx="6">
                  <c:v>3.6</c:v>
                </c:pt>
                <c:pt idx="7">
                  <c:v>4.7</c:v>
                </c:pt>
                <c:pt idx="8">
                  <c:v>5.8</c:v>
                </c:pt>
                <c:pt idx="9">
                  <c:v>6.9</c:v>
                </c:pt>
                <c:pt idx="10">
                  <c:v>8</c:v>
                </c:pt>
                <c:pt idx="11">
                  <c:v>9.1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7178"/>
                    </a:solidFill>
                    <a:latin typeface="Arial"/>
                  </a:rPr>
                  <a:t>周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2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7178"/>
                    </a:solidFill>
                    <a:latin typeface="Arial"/>
                  </a:rPr>
                  <a:t>log₂ 丰度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9FA"/>
        </a:solidFill>
        <a:ln>
          <a:noFill/>
        </a:ln>
        <a:effectLst/>
      </c:spPr>
    </c:plotArea>
    <c:plotVisOnly val="1"/>
    <c:dispBlanksAs val="span"/>
  </c:chart>
  <c:spPr>
    <a:solidFill>
      <a:srgbClr val="F5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开场：把检测重新定义为序贯变点问题，而非逐样本分类问题。全篇围绕一个问题展开——怎样才算数得上『开始上升』。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核心转换：检测的对象不是身份，而是动力学。r_i &gt; 0 就是全部信号定义。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聚类稳定性是最被低估的实操风险：参考库更新、重新组装都会让簇漂移。需要固定聚类 + 锚定策略，以及新簇的冷启动方案。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批次效应在轨迹上和疫情起点长得一模一样，是真实监测中假警报的头号来源。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忽略成分性既制造假警报，也制造虚假的安心。后者杀伤力更大——漏报不会自己告诉你。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取对数的两个理由：指数增长变成直线，斜率即增长率；同时稳定方差。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D(f1||f0) 就是「每观测一步能积累多少证据」。信号越强、噪声越小，KL 越大，延迟越短。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强调分层：检测器 = 提取信号；下一层 = 保证有效性。二者可以自由组合。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代价：任意时刻有效是买保险，保费是功效。相对固定样本量检验，等价样本量约增加 1.5–2 倍（来自重对数律的 √(2 log log t) 项）。我们会如实报告这一代价。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单假设只需 20，加上多重性要 10 万——这个跨度就是多重性的代价，它会转化为额外的检测延迟。下一页说明代价其实很小。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这是整个方案可扩展性的数学依据，也是评审最可能追问的地方——建议在 EOI 里用真实数据给出具体的 X 与 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收尾：观测模型定义正常，序贯检验定义够了，指标衡量多快。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病原体不可知生物监测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MGS 时间序列上的序贯变点检测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检测的基本原理与数学基础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86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在几千条丰度轨迹中，找出哪一条开始了指数上升 —— 并在保证误报率的前提下，尽早指出它。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59105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84708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35915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1518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87121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12724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3931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89534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15137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956048"/>
            <a:ext cx="201168" cy="201168"/>
          </a:xfrm>
          <a:prstGeom prst="ellipse">
            <a:avLst/>
          </a:prstGeom>
          <a:solidFill>
            <a:srgbClr val="D9531E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947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17550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543153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963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数千个序列簇 · 一个开始增长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问题重述：从分类到序贯变点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把『这是不是病原体』换成『这条轨迹是否已经改变』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传统框架：逐样本分类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输入一份样本 → 输出「含病原体 X」的分数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假设样本独立同分布，各判各的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评价用 AUC —— 没有时间轴，也需要标签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本框架：并行序贯变点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9672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每个序列簇 = 一条随时间推进的计数轨迹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问的是「机制是否在某时刻改变」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同时对 m ≈ 10³–10⁴ 个簇提出该问题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1091672" cy="2651760"/>
          </a:xfrm>
          <a:prstGeom prst="roundRect">
            <a:avLst>
              <a:gd name="adj" fmla="val 2069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39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986784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对每个序列簇 i = 1, …, m，观测计数序列  Y_i(1), Y_i(2), …, Y_i(t)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 :  生成参数恒定，θ_i(t) ≡ θ_i          （无事发生）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:  ∃ 变点 τ_i ，使得   log λ_i(t) = log λ_i + r_i · (t − τ_i)⁺ ，  r_i &gt; 0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目标： 在  P(误报) ≤ α  的约束下，最小化检出延迟   E[(T − τ_i)⁺]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第一步：把测序数据变成轨迹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全程不比对参考数据库 —— 这正是 pathogen-agnostic 的来源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每周测序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污水厂取样 → 宏基因组测序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每次约 10⁷ 条 reads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87368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无监督聚类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k-mer（k = 31）或 contig 聚类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每组给一个编号，不问它是什么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1584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归一化计数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Y_i(t) = 落入簇 i 的 read 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扣除深度、批次、稀释、回收率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6766560" cy="2194560"/>
          </a:xfrm>
          <a:prstGeom prst="roundRect">
            <a:avLst>
              <a:gd name="adj" fmla="val 25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965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可观测量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443984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Y_i(t) ：簇 i 在第 t 周的 read 计数 ,   i = 1, …, m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N(t) = Σ_i Y_i(t)    （该周文库深度）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π_i(t) = Y_i(t) / N(t)   （相对丰度，成分数据）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16952" y="3913632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4096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唯一的硬约束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91272" y="4443984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簇编号必须跨时间稳定：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本周的 #4417 与下周的 #4417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必须是同一个生物学对象。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否则「时间序列」根本不存在。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观测模型（一）：计数分布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作用只有一个 —— 定义「什么叫正常波动」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53212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负二项：单簇的过离散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5120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Y_i(t) ~ NB( μ_i(t), φ_i 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E[Y] = μ ,   Var[Y] = μ + μ² / 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μ_i(t) = log s(t) + x(t)^T β_i + η_i(t)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137160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Dirichlet-多项：全向量联合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1883664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(Y₁, …, Y_m)(t) ~ DM( N(t), α(t) 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π_i = α_i / α₀ ,   α₀ = Σ_j α_j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Var[Y_i] = N π_i(1 − π_i) · (N + α₀)/(1 + α₀)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11091672" cy="1737360"/>
          </a:xfrm>
          <a:prstGeom prst="roundRect">
            <a:avLst>
              <a:gd name="adj" fmla="val 3158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各项在挡什么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882896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s(t)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有效文库尺寸   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x(t)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测序批次 / 运行效应、PMMoV 与 crAssphage 粪便强度、流量与稀释、提取对照回收率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η_i(t)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待检测的潜在对数丰度 —— 变点检测只作用在这一项上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φ、过离散因子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决定「一次跳动算不算异常」的尺度；用 Poisson 会低估噪声，导致系统天天报警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观测模型（二）：成分性与对数比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相对丰度下降，绝对载量完全可能在上升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2423160"/>
          </a:xfrm>
          <a:prstGeom prst="roundRect">
            <a:avLst>
              <a:gd name="adj" fmla="val 2264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成分性陷阱：一个数字例子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目标绝对载量  c_i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 →  200        ×2  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背景总量  Σ_j c_j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 →  40,000        ×4  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观测到的相对丰度  π_i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 →  0.5%        腰斩  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42432" y="1371600"/>
            <a:ext cx="5897880" cy="2423160"/>
          </a:xfrm>
          <a:prstGeom prst="roundRect">
            <a:avLst>
              <a:gd name="adj" fmla="val 226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中心对数比变换（CLR）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clr(π)_i = log π_i − (1/m) Σ_j log π_j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= log ( π_i / g(π) ) ,   g(π) = (Π_j π_j)^(1/m)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尺度不变性：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clr(π)_i = log c_i − (1/m) Σ_j log c_j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11091672" cy="2103120"/>
          </a:xfrm>
          <a:prstGeom prst="roundRect">
            <a:avLst>
              <a:gd name="adj" fmla="val 260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87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两条出路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517136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参照系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差分后  Δclr_i(t) = Δlog c_i(t) − Δ(平均对数载量)。只要参照集稳定，CLR 差分即绝对载量的对数变化。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绝对锚定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log ĉ_i(t) = log π_i(t) + log Ĉ(t)，其中 Ĉ(t) 由 spike-in 内标、ddPCR 或 PMMoV × 流量估计。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归一化策略的系统比较，本身就是 RFP 明确点名的开放问题 —— 是可交付成果，不是额外开销。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信号的数学签名：指数增长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检测的是行为，不是身份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02920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为什么一定是指数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流行早期：  I(t) ≈ I₀ · e^(r t) ,   r = β − γ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排毒卷积：  c_i(t) ∝ ∫ I(t − u) · s(u) du = κ · I(t)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（卷积不改变指数率 r）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⟹   log c_i(t) = 常数 + r · 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倍增时间   T_d = ln 2 / 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88152" y="1371600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对数尺度上，变点 = 斜率由 0 变为 r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035040" y="19202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645152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86460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什么东西会连续几周稳定翻倍？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微生物组随机波动 —— 围绕基线上下晃，不会。　季节性 —— 周期起落，不会。　一次污染事件 —— 跳上去就停住，不会。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一场正在扩散的疫情 —— 会。而且几乎是唯一会的。这就是检测器不需要知道它是什么的原因。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检测器（一）：CUSUM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累积对数似然比 —— 已知变化幅度时的极小极大最优解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943600" cy="2606040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递推（1954）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577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S_i(0) = 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S_i(t) = max { 0 ,  S_i(t−1) + Λ_i(t) }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Λ_i(t) = log [ f₁( y_i(t) ) / f₀( y_i(t) ) ]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报警时刻   T = inf { t :  S_i(t) ≥ h 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02552" y="1371600"/>
            <a:ext cx="4937760" cy="2606040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Lorden 最优性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   E_∞[T] ≥ γ   约束下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最小化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sup_τ  ess sup  E[ (T − τ)⁺ | F_τ ]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达到该下界（渐近意义）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1091672" cy="1920240"/>
          </a:xfrm>
          <a:prstGeom prst="roundRect">
            <a:avLst>
              <a:gd name="adj" fmla="val 285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核心标度关系：误报与延迟的兑换率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681728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E_∞[T] ≈ e^h            E₁[ T − τ ] ≈ h / D( f₁ ‖ f₀ 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⟹   检出延迟  ≈  log(ARL₀) / KL 散度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把假警报间隔拉长 10 倍，只需多付  ln 10 ≈ 2.3  个「KL 单位」的时间。这条关系是后面一切延迟估计的骨架。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检测器（二）：贝叶斯在线变点检测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变化幅度未知时的柔性版本，并给出变点位置的后验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游程长度递推（Adams &amp; MacKay, 2007）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6309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游程长度   r_t ∈ { 0, 1, 2, … }   ：距上次变点的步数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危险率     H(r) = 1 / λ           （几何先验）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r_t , y_1:t ) =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Σ_{r_{t−1}}  P( r_t | r_{t−1} ) · P( y_t | r_{t−1}, y^(r) ) · P( r_{t−1}, y_1:t−1 )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增长：r_t = r_{t−1} + 1，概率 1 − H        重置：r_t = 0，概率 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34072" y="1371600"/>
            <a:ext cx="4206240" cy="3063240"/>
          </a:xfrm>
          <a:prstGeom prst="roundRect">
            <a:avLst>
              <a:gd name="adj" fmla="val 1791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CUSUM 的分工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08392" y="1901952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需预设变化幅度；一旦设定即最优。极便宜、极稳，是质控的主力。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BOCPD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对幅度做边缘化，无需预设；额外输出变点位置的后验分布，便于事后定位起始周。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两者都是 O(1) 在线递推。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097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检测器只负责一件事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每周输出一个「这周有多出乎『没变』的意料」的量。它本身并不构成有效的统计推断 —— 因为我们每周都要看一次，而且要同时看几千条。这就是下一页的问题。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有效性核心：e 值与检验鞅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承重结构 —— 让「每周都看」这件事在统计上合法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0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问题：反复窥视摧毁 p 值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值的保证   P( p_T ≤ α ) ≤ α   仅当 T 事先固定。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一年查看 52 次，若近似独立：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1 − 0.95⁵² ≈ 93%   至少踩一次假阳性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再乘以几千条曲线 —— 系统会天天报警，等于没有报警。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91072" y="13258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490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值的定义与直觉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1828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0   且   E_{H₀}[ E ] ≤ 1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Markov：  P_{H₀}( E ≥ 1/α ) ≤ α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直觉：押注 H₀ 为假的赔付。H₀ 为真时赚不到钱。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1091672" cy="2423160"/>
          </a:xfrm>
          <a:prstGeom prst="roundRect">
            <a:avLst>
              <a:gd name="adj" fmla="val 2264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58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序贯化：财富过程是非负上鞅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E_t = Π_{s ≤ t} κ_s( y_s ) ,     其中   E_{H₀}[ κ_s | F_{s−1} ] ≤ 1     ⟹   (E_t) 在 H₀ 下是非负上鞅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Ville 不等式：    P_{H₀} ( ∃ t ≥ 1 :  E_t ≥ 1/α )  ≤  α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注意是「存在某个 t」—— 保证在所有时刻同时成立。于是：想什么时候看就什么时候看，想什么时候停就什么时候停，甚至可以因为数据好看才停，有效性不变。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增长率 r 未知时用混合鞅：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E_t = ∫ Π_s [ f_r(y_s) / f₀(y_s) ] dπ(r)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多重性：e-BH 与门槛的量级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几千条曲线同时看时，门槛该抬多高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943600" cy="2514600"/>
          </a:xfrm>
          <a:prstGeom prst="roundRect">
            <a:avLst>
              <a:gd name="adj" fmla="val 2182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e-BH 过程（Wang &amp; Ramdas, 2022）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577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输入   E₁, …, E_m ，降序排列   E_(1) ≥ … ≥ E_(m)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k* = max { k :  E_(k) ≥ m / (α k) }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拒绝最大的 k* 个假设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02552" y="1371600"/>
            <a:ext cx="4937760" cy="2514600"/>
          </a:xfrm>
          <a:prstGeom prst="roundRect">
            <a:avLst>
              <a:gd name="adj" fmla="val 2182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关键性质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434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任意依赖结构下   FDR ≤ α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 PRDS 或正相关假设 —— 这里必须要这个性质：成分数据天生负相关，类群之间又互相共变。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11091672" cy="2011680"/>
          </a:xfrm>
          <a:prstGeom prst="roundRect">
            <a:avLst>
              <a:gd name="adj" fmla="val 27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61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门槛的量级（m = 5000, α = 0.05）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单个假设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只报 1 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 10 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5528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(10α)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组合保证：每个簇一条 e 过程（跨时间有效）→ 每周施加 e-BH（跨假设有效）⟹ 在任意停时查看，FDR 均受控。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首要指标：检出延迟与 ARL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AUC —— 因为 AUC 没有时间轴，也不映射到任何决策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 · MGS 时间序列上的任意时刻有效序贯检测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1965960"/>
          </a:xfrm>
          <a:prstGeom prst="roundRect">
            <a:avLst>
              <a:gd name="adj" fmla="val 2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36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两个运行特征量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ARL₀ = E_∞[ T ]        假警报间隔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ARL₁ = E[ (T − τ)⁺ | T &gt; τ ]    检出延迟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设计点：钉死 ARL₀，比较延迟分布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42432" y="1371600"/>
            <a:ext cx="5897880" cy="1965960"/>
          </a:xfrm>
          <a:prstGeom prst="roundRect">
            <a:avLst>
              <a:gd name="adj" fmla="val 2791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5361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交付给运维方的一句话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在每站点每年一次假警报的运行点上，对倍增时间 3.5 天的信号，中位检出延迟 X 天，90 分位 Y 天。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16752" y="28163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无法这样定价。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11091672" cy="2560320"/>
          </a:xfrm>
          <a:prstGeom prst="roundRect">
            <a:avLst>
              <a:gd name="adj" fmla="val 2143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12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延迟的标度律：为什么能扩展到数千个簇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041648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报警条件：  Σ_{u=1}^{d} D_u  ≥  ln( m / α )      其中   D_u ≈ μ₀ ( e^(r u) − 1 − r u 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左边随 d 指数增长，解得    d*  ≈  (1/r) · ln [ ln(m/α) · (e^r − 1) / μ₀ ]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延迟与倍增时间成正比（d* ∝ 1/r ∝ T_d）；而多重性负担 m 只以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对数的对数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进入延迟。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把监测规模从 50 个簇扩到 5000 个簇，代价只有约  ln(ln 10⁵ / ln 10³) / r  ≈  不到一个倍增周期。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三层结构，一句话收尾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61320" cy="1005840"/>
          </a:xfrm>
          <a:prstGeom prst="roundRect">
            <a:avLst>
              <a:gd name="adj" fmla="val 5455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观测模型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定义「正常」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9659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负二项 / Dirichlet-多项、批次与流量协变量、PMMoV 归一化、CLR 对数比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10561320" cy="1005840"/>
          </a:xfrm>
          <a:prstGeom prst="roundRect">
            <a:avLst>
              <a:gd name="adj" fmla="val 5455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序贯检验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定义「够了」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3200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 与 BOCPD 提取证据；e 过程 + Ville 不等式保证任意时刻有效；e-BH 控制跨簇 FDR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10561320" cy="1005840"/>
          </a:xfrm>
          <a:prstGeom prst="roundRect">
            <a:avLst>
              <a:gd name="adj" fmla="val 5455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首要指标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衡量「多快」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4434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ARL₀ 下的检出延迟分布，以及带置信序列的增长率与倍增时间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检测的全部原理：在几千条丰度轨迹里找出开始指数上升的那一条 —— 剩下的数学，都在回答「怎样才算数得上开始上升」。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MGS 序贯变点检测 — 原理与数学基础</dc:title>
  <dc:subject>PptxGenJS Presentation</dc:subject>
  <dc:creator>Sihua Peng</dc:creator>
  <cp:lastModifiedBy>Sihua Peng</cp:lastModifiedBy>
  <cp:revision>1</cp:revision>
  <dcterms:created xsi:type="dcterms:W3CDTF">2026-07-27T00:52:56Z</dcterms:created>
  <dcterms:modified xsi:type="dcterms:W3CDTF">2026-07-27T00:52:56Z</dcterms:modified>
</cp:coreProperties>
</file>