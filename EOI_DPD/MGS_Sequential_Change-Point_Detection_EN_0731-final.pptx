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9" r:id="rId3"/>
    <p:sldId id="26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21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Cluster a</c:v>
                </c:pt>
              </c:strCache>
            </c:strRef>
          </c:tx>
          <c:spPr>
            <a:ln w="25400" cap="flat">
              <a:solidFill>
                <a:srgbClr val="C3D4D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2.1</c:v>
                </c:pt>
                <c:pt idx="1">
                  <c:v>1.9</c:v>
                </c:pt>
                <c:pt idx="2">
                  <c:v>2.2999999999999998</c:v>
                </c:pt>
                <c:pt idx="3">
                  <c:v>2</c:v>
                </c:pt>
                <c:pt idx="4">
                  <c:v>2.2000000000000002</c:v>
                </c:pt>
                <c:pt idx="5">
                  <c:v>1.8</c:v>
                </c:pt>
                <c:pt idx="6">
                  <c:v>2.1</c:v>
                </c:pt>
                <c:pt idx="7">
                  <c:v>2.4</c:v>
                </c:pt>
                <c:pt idx="8">
                  <c:v>2</c:v>
                </c:pt>
                <c:pt idx="9">
                  <c:v>2.2000000000000002</c:v>
                </c:pt>
                <c:pt idx="10">
                  <c:v>1.9</c:v>
                </c:pt>
                <c:pt idx="11">
                  <c:v>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4E5-4F32-A5CF-24792D3A7A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Cluster b</c:v>
                </c:pt>
              </c:strCache>
            </c:strRef>
          </c:tx>
          <c:spPr>
            <a:ln w="25400" cap="flat">
              <a:solidFill>
                <a:srgbClr val="C3D4D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1.6</c:v>
                </c:pt>
                <c:pt idx="1">
                  <c:v>1.8</c:v>
                </c:pt>
                <c:pt idx="2">
                  <c:v>1.5</c:v>
                </c:pt>
                <c:pt idx="3">
                  <c:v>1.9</c:v>
                </c:pt>
                <c:pt idx="4">
                  <c:v>1.6</c:v>
                </c:pt>
                <c:pt idx="5">
                  <c:v>1.7</c:v>
                </c:pt>
                <c:pt idx="6">
                  <c:v>1.9</c:v>
                </c:pt>
                <c:pt idx="7">
                  <c:v>1.5</c:v>
                </c:pt>
                <c:pt idx="8">
                  <c:v>1.8</c:v>
                </c:pt>
                <c:pt idx="9">
                  <c:v>1.6</c:v>
                </c:pt>
                <c:pt idx="10">
                  <c:v>1.9</c:v>
                </c:pt>
                <c:pt idx="11">
                  <c:v>1.7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4E5-4F32-A5CF-24792D3A7AF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Cluster c</c:v>
                </c:pt>
              </c:strCache>
            </c:strRef>
          </c:tx>
          <c:spPr>
            <a:ln w="25400" cap="flat">
              <a:solidFill>
                <a:srgbClr val="C3D4D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2.7</c:v>
                </c:pt>
                <c:pt idx="1">
                  <c:v>2.4</c:v>
                </c:pt>
                <c:pt idx="2">
                  <c:v>2.8</c:v>
                </c:pt>
                <c:pt idx="3">
                  <c:v>2.5</c:v>
                </c:pt>
                <c:pt idx="4">
                  <c:v>2.9</c:v>
                </c:pt>
                <c:pt idx="5">
                  <c:v>2.5</c:v>
                </c:pt>
                <c:pt idx="6">
                  <c:v>2.7</c:v>
                </c:pt>
                <c:pt idx="7">
                  <c:v>2.4</c:v>
                </c:pt>
                <c:pt idx="8">
                  <c:v>2.8</c:v>
                </c:pt>
                <c:pt idx="9">
                  <c:v>2.5</c:v>
                </c:pt>
                <c:pt idx="10">
                  <c:v>2.6</c:v>
                </c:pt>
                <c:pt idx="11">
                  <c:v>2.9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4E5-4F32-A5CF-24792D3A7AF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Cluster d</c:v>
                </c:pt>
              </c:strCache>
            </c:strRef>
          </c:tx>
          <c:spPr>
            <a:ln w="25400" cap="flat">
              <a:solidFill>
                <a:srgbClr val="C3D4D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1.2</c:v>
                </c:pt>
                <c:pt idx="1">
                  <c:v>1.4</c:v>
                </c:pt>
                <c:pt idx="2">
                  <c:v>1.1000000000000001</c:v>
                </c:pt>
                <c:pt idx="3">
                  <c:v>1.3</c:v>
                </c:pt>
                <c:pt idx="4">
                  <c:v>1.5</c:v>
                </c:pt>
                <c:pt idx="5">
                  <c:v>1.2</c:v>
                </c:pt>
                <c:pt idx="6">
                  <c:v>1.4</c:v>
                </c:pt>
                <c:pt idx="7">
                  <c:v>1.1000000000000001</c:v>
                </c:pt>
                <c:pt idx="8">
                  <c:v>1.3</c:v>
                </c:pt>
                <c:pt idx="9">
                  <c:v>1.5</c:v>
                </c:pt>
                <c:pt idx="10">
                  <c:v>1.2</c:v>
                </c:pt>
                <c:pt idx="11">
                  <c:v>1.4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4E5-4F32-A5CF-24792D3A7AF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Cluster e</c:v>
                </c:pt>
              </c:strCache>
            </c:strRef>
          </c:tx>
          <c:spPr>
            <a:ln w="25400" cap="flat">
              <a:solidFill>
                <a:srgbClr val="C3D4D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Sheet1!$F$2:$F$13</c:f>
              <c:numCache>
                <c:formatCode>General</c:formatCode>
                <c:ptCount val="12"/>
                <c:pt idx="0">
                  <c:v>3</c:v>
                </c:pt>
                <c:pt idx="1">
                  <c:v>3.2</c:v>
                </c:pt>
                <c:pt idx="2">
                  <c:v>2.9</c:v>
                </c:pt>
                <c:pt idx="3">
                  <c:v>3.1</c:v>
                </c:pt>
                <c:pt idx="4">
                  <c:v>2.8</c:v>
                </c:pt>
                <c:pt idx="5">
                  <c:v>3.1</c:v>
                </c:pt>
                <c:pt idx="6">
                  <c:v>2.9</c:v>
                </c:pt>
                <c:pt idx="7">
                  <c:v>3.2</c:v>
                </c:pt>
                <c:pt idx="8">
                  <c:v>3</c:v>
                </c:pt>
                <c:pt idx="9">
                  <c:v>2.8</c:v>
                </c:pt>
                <c:pt idx="10">
                  <c:v>3.1</c:v>
                </c:pt>
                <c:pt idx="11">
                  <c:v>2.9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E4E5-4F32-A5CF-24792D3A7AF2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Target cluster</c:v>
                </c:pt>
              </c:strCache>
            </c:strRef>
          </c:tx>
          <c:spPr>
            <a:ln w="25400" cap="flat">
              <a:solidFill>
                <a:srgbClr val="D9531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Sheet1!$G$2:$G$13</c:f>
              <c:numCache>
                <c:formatCode>General</c:formatCode>
                <c:ptCount val="12"/>
                <c:pt idx="0">
                  <c:v>2</c:v>
                </c:pt>
                <c:pt idx="1">
                  <c:v>1.8</c:v>
                </c:pt>
                <c:pt idx="2">
                  <c:v>2.2000000000000002</c:v>
                </c:pt>
                <c:pt idx="3">
                  <c:v>1.9</c:v>
                </c:pt>
                <c:pt idx="4">
                  <c:v>2.1</c:v>
                </c:pt>
                <c:pt idx="5">
                  <c:v>2.5</c:v>
                </c:pt>
                <c:pt idx="6">
                  <c:v>3.6</c:v>
                </c:pt>
                <c:pt idx="7">
                  <c:v>4.7</c:v>
                </c:pt>
                <c:pt idx="8">
                  <c:v>5.8</c:v>
                </c:pt>
                <c:pt idx="9">
                  <c:v>6.9</c:v>
                </c:pt>
                <c:pt idx="10">
                  <c:v>8</c:v>
                </c:pt>
                <c:pt idx="11">
                  <c:v>9.1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E4E5-4F32-A5CF-24792D3A7A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7178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F7178"/>
                    </a:solidFill>
                    <a:latin typeface="Arial"/>
                  </a:rPr>
                  <a:t>Week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71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12700" cap="flat">
              <a:solidFill>
                <a:srgbClr val="E2EA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F7178"/>
                    </a:solidFill>
                    <a:latin typeface="Arial"/>
                  </a:defRPr>
                </a:pPr>
                <a:r>
                  <a:rPr lang="en-US" sz="1000" b="0" i="0" u="none" strike="noStrike">
                    <a:solidFill>
                      <a:srgbClr val="5F7178"/>
                    </a:solidFill>
                    <a:latin typeface="Arial"/>
                  </a:rPr>
                  <a:t>log₂ abundance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71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9F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5F9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175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reframe detection as a sequential change-point problem rather than a per-sample classification problem. The whole talk revolves around one question — what counts as having ‘begun to rise.’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shift: what's being detected is not identity but dynamics. r_i &gt; 0 is the entire definition of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0671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shift: what's being detected is not identity but dynamics. r_i &gt; 0 is the entire definition of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Cluster stability is the most underrated operational risk: reference-database updates and reassembly both cause cluster drift. Needs a fixed-clustering + anchoring strategy, plus a cold-start plan for new clusters.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a trajectory, a batch effect looks identical to an outbreak's onset — the number-one source of false alarms in real-world surveillance.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Ignoring compositionality creates both false alarms and false reassurance. The latter is more dangerous — a missed detection doesn't announce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reasons for taking logs: exponential growth becomes a line whose slope is the growth rate, and it stabilizes the variance.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D(f1||f0) is exactly ‘how much evidence accumulates per observation.’ Stronger signal and lower noise mean larger KL divergence and shorter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layering: the detector extracts signal; the next layer guarantees validity. The two combine freely.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cost: anytime validity is insurance, and the premium is power. Versus a fixed-sample-size test, the equivalent sample size grows by roughly 1.5–2× (from the √(2 log log t) term in the law of the iterated logarithm). We report this cost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single hypothesis needs only 20; with multiplicity it takes 100,000 — that span is the cost of multiplicity, and it becomes extra detection delay. The next slide shows the cost is actually small.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mathematical basis for the whole proposal's scalability, and the point reviewers will most likely probe — recommend giving concrete X and Y values from real data in the EOI.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Closing: the observation model defines normal, sequential testing defines enough, and the metric measures how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664" y="5818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Pathogen-Agnostic Biosurveillance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87452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latin typeface="Microsoft YaHei" pitchFamily="34" charset="0"/>
                <a:ea typeface="Microsoft YaHei" pitchFamily="34" charset="-122"/>
              </a:rPr>
              <a:t>Proposal 2: DPD (Days per Dollar)-MGS Change-Point Detection</a:t>
            </a:r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Mathematical Principles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24128" y="6276139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491499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5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 watch thousands of microbial signals in wastewater week by week, looking for the one that has started to double — and we flag it early, with false alarms kept rare.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Shape 7"/>
          <p:cNvSpPr/>
          <p:nvPr/>
        </p:nvSpPr>
        <p:spPr>
          <a:xfrm>
            <a:off x="1335024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1591056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1847088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Shape 10"/>
          <p:cNvSpPr/>
          <p:nvPr/>
        </p:nvSpPr>
        <p:spPr>
          <a:xfrm>
            <a:off x="2103120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2359152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2615184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2871216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3127248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3383280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Shape 16"/>
          <p:cNvSpPr/>
          <p:nvPr/>
        </p:nvSpPr>
        <p:spPr>
          <a:xfrm>
            <a:off x="3639312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Shape 17"/>
          <p:cNvSpPr/>
          <p:nvPr/>
        </p:nvSpPr>
        <p:spPr>
          <a:xfrm>
            <a:off x="3895344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Shape 18"/>
          <p:cNvSpPr/>
          <p:nvPr/>
        </p:nvSpPr>
        <p:spPr>
          <a:xfrm>
            <a:off x="4151376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4407408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Shape 20"/>
          <p:cNvSpPr/>
          <p:nvPr/>
        </p:nvSpPr>
        <p:spPr>
          <a:xfrm>
            <a:off x="4663440" y="4561347"/>
            <a:ext cx="201168" cy="201168"/>
          </a:xfrm>
          <a:prstGeom prst="ellipse">
            <a:avLst/>
          </a:prstGeom>
          <a:solidFill>
            <a:srgbClr val="D9531E"/>
          </a:solidFill>
          <a:ln/>
        </p:spPr>
      </p:sp>
      <p:sp>
        <p:nvSpPr>
          <p:cNvPr id="23" name="Shape 21"/>
          <p:cNvSpPr/>
          <p:nvPr/>
        </p:nvSpPr>
        <p:spPr>
          <a:xfrm>
            <a:off x="4919472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Shape 22"/>
          <p:cNvSpPr/>
          <p:nvPr/>
        </p:nvSpPr>
        <p:spPr>
          <a:xfrm>
            <a:off x="5175504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Shape 23"/>
          <p:cNvSpPr/>
          <p:nvPr/>
        </p:nvSpPr>
        <p:spPr>
          <a:xfrm>
            <a:off x="5431536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Shape 24"/>
          <p:cNvSpPr/>
          <p:nvPr/>
        </p:nvSpPr>
        <p:spPr>
          <a:xfrm>
            <a:off x="5687568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0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Shape 26"/>
          <p:cNvSpPr/>
          <p:nvPr/>
        </p:nvSpPr>
        <p:spPr>
          <a:xfrm>
            <a:off x="6199632" y="4634499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59" y="4954539"/>
            <a:ext cx="776845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Thousands of sequence clusters · one beginning to grow</a:t>
            </a:r>
            <a:endParaRPr lang="en-US" sz="160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8108B083-D8FC-40E0-AC74-0BF01FE34D28}"/>
              </a:ext>
            </a:extLst>
          </p:cNvPr>
          <p:cNvSpPr/>
          <p:nvPr/>
        </p:nvSpPr>
        <p:spPr>
          <a:xfrm>
            <a:off x="950976" y="574504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Sihua Peng,</a:t>
            </a:r>
            <a:r>
              <a:rPr lang="zh-CN" altLang="en-US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07/31/2026</a:t>
            </a:r>
            <a:endParaRPr lang="en-US" dirty="0"/>
          </a:p>
        </p:txBody>
      </p:sp>
      <p:sp>
        <p:nvSpPr>
          <p:cNvPr id="31" name="Text 0">
            <a:extLst>
              <a:ext uri="{FF2B5EF4-FFF2-40B4-BE49-F238E27FC236}">
                <a16:creationId xmlns:a16="http://schemas.microsoft.com/office/drawing/2014/main" id="{1AB03AD6-B11D-4F71-A342-A21F50E9A315}"/>
              </a:ext>
            </a:extLst>
          </p:cNvPr>
          <p:cNvSpPr/>
          <p:nvPr/>
        </p:nvSpPr>
        <p:spPr>
          <a:xfrm>
            <a:off x="774289" y="1055839"/>
            <a:ext cx="10351893" cy="973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Technical Area three(TA3):</a:t>
            </a:r>
          </a:p>
          <a:p>
            <a:r>
              <a:rPr lang="en-US" dirty="0"/>
              <a:t> Modeling pathogen-agnostic </a:t>
            </a:r>
            <a:r>
              <a:rPr lang="en-US" dirty="0" err="1"/>
              <a:t>biosurveillance</a:t>
            </a:r>
            <a:r>
              <a:rPr lang="en-US" dirty="0"/>
              <a:t> system features such as cost, sensitivity, and optimal deployment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14169" y="250847"/>
            <a:ext cx="10515600" cy="68580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Whole Idea in 60 Seconds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302527"/>
            <a:ext cx="10561320" cy="1005840"/>
          </a:xfrm>
          <a:prstGeom prst="roundRect">
            <a:avLst>
              <a:gd name="adj" fmla="val 5455"/>
            </a:avLst>
          </a:prstGeom>
          <a:noFill/>
          <a:ln w="12700">
            <a:solidFill>
              <a:srgbClr val="14505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43000" y="1412255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Watch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43000" y="1805447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thousands of curves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20440" y="1439687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Each week we sequence wastewater and sort every read into one of ~5,000 groups. We never ask what a group is — we only track how much of it shows up, week after week.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536967"/>
            <a:ext cx="10561320" cy="1005840"/>
          </a:xfrm>
          <a:prstGeom prst="roundRect">
            <a:avLst>
              <a:gd name="adj" fmla="val 5455"/>
            </a:avLst>
          </a:prstGeom>
          <a:noFill/>
          <a:ln w="12700">
            <a:solidFill>
              <a:srgbClr val="14505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43000" y="2646695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Wait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43000" y="3039887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 one to take off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2674127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Nothing in a healthy microbiome doubles steadily for weeks on end. A spreading outbreak does. So the signal is a curve that starts doubling — whatever organism it turns out to be.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771407"/>
            <a:ext cx="10561320" cy="1005840"/>
          </a:xfrm>
          <a:prstGeom prst="roundRect">
            <a:avLst>
              <a:gd name="adj" fmla="val 5455"/>
            </a:avLst>
          </a:prstGeom>
          <a:noFill/>
          <a:ln w="12700">
            <a:solidFill>
              <a:srgbClr val="14505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43000" y="3881135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Warn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43000" y="4274327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early, and rarely wrong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3908567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rest of this deck is one question made precise: how much rise is enough to call it? We alarm as early as we can while holding false alarms to about one per site per year.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097287"/>
            <a:ext cx="10561320" cy="64008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i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Everything after this slide is that same idea, made rigorous enough to put a guaranteed number on the false-alarm rate.</a:t>
            </a:r>
            <a:endParaRPr lang="en-US" sz="1400" dirty="0"/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1EBF5CAA-042B-41EC-9FF9-6B8815396DBB}"/>
              </a:ext>
            </a:extLst>
          </p:cNvPr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79AA27-C3D8-4A0C-B398-95C96D7F1162}"/>
              </a:ext>
            </a:extLst>
          </p:cNvPr>
          <p:cNvSpPr/>
          <p:nvPr/>
        </p:nvSpPr>
        <p:spPr>
          <a:xfrm>
            <a:off x="513534" y="409081"/>
            <a:ext cx="4571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Aim 1 Anytime-Valid Sequential Detection on MGS Time Series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13</a:t>
            </a:r>
            <a:endParaRPr lang="en-US" sz="9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F824C2E-B195-40C1-AAD2-8DF13A2F8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874" y="1131494"/>
            <a:ext cx="10320499" cy="465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7843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Different Question: Not “What Is It?” but “Is It Taking Off?”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Instead of naming the organism, we watch whether its curve has changed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5727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Usual Way: Score Each Sample on Its Own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Feed in one sample, get back a score for “does this contain pathogen X?”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Each sample is judged alone — last week’s result is never used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Graded by AUC, which has no time axis and needs known </a:t>
            </a: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answers to train 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45352" y="1371600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19672" y="157276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Our Way: Watch Every Curve’s Trend, All at Once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19672" y="19202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Each cluster is a curve: how much of it we see, week after week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 question only: did this curve turn upward and keep climbing?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Asked of 1,000–10,000 curves at the same time, every single week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456432"/>
            <a:ext cx="11091672" cy="2651760"/>
          </a:xfrm>
          <a:prstGeom prst="roundRect">
            <a:avLst>
              <a:gd name="adj" fmla="val 2069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36393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Same Idea, Written Formally (skip if you like)</a:t>
            </a:r>
            <a:endParaRPr lang="en-US" sz="11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868680" y="3986784"/>
                <a:ext cx="10515600" cy="2011680"/>
              </a:xfrm>
              <a:prstGeom prst="rect">
                <a:avLst/>
              </a:prstGeom>
              <a:noFill/>
              <a:ln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35000"/>
                  </a:lnSpc>
                </a:pPr>
                <a:r>
                  <a:rPr lang="en-US" sz="145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For each cluster i = 1, …, m, observe counts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𝑌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145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(1),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n-US" sz="1600" b="0" i="1" dirty="0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𝑌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 b="0" i="0" dirty="0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145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(2),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𝑌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145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(t)</a:t>
                </a:r>
                <a:endParaRPr lang="en-US" sz="1450" dirty="0"/>
              </a:p>
              <a:p>
                <a:pPr marL="0" indent="0">
                  <a:lnSpc>
                    <a:spcPct val="135000"/>
                  </a:lnSpc>
                  <a:buNone/>
                </a:pPr>
                <a:endParaRPr lang="en-US" sz="1450" dirty="0"/>
              </a:p>
              <a:p>
                <a:pPr>
                  <a:lnSpc>
                    <a:spcPct val="135000"/>
                  </a:lnSpc>
                </a:pPr>
                <a:r>
                  <a:rPr lang="en-US" sz="145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H₀ :  generating parameter constant,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7232A"/>
                            </a:solidFill>
                            <a:latin typeface="Cambria" pitchFamily="34" charset="0"/>
                            <a:ea typeface="Cambria" pitchFamily="34" charset="-122"/>
                            <a:cs typeface="Cambria" pitchFamily="34" charset="-120"/>
                          </a:rPr>
                          <m:t>θ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145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(t) ≡ θ_i          (nothing happening)</a:t>
                </a:r>
                <a:endParaRPr lang="en-US" sz="1450" dirty="0"/>
              </a:p>
              <a:p>
                <a:pPr>
                  <a:lnSpc>
                    <a:spcPct val="135000"/>
                  </a:lnSpc>
                </a:pPr>
                <a:r>
                  <a:rPr lang="en-US" sz="145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H₁ :  ∃ change-point τ_i such that   log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7232A"/>
                            </a:solidFill>
                            <a:latin typeface="Cambria" pitchFamily="34" charset="0"/>
                            <a:ea typeface="Cambria" pitchFamily="34" charset="-122"/>
                            <a:cs typeface="Cambria" pitchFamily="34" charset="-120"/>
                          </a:rPr>
                          <m:t>λ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145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(t) = log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rgbClr val="17232A"/>
                            </a:solidFill>
                            <a:latin typeface="Cambria" pitchFamily="34" charset="0"/>
                            <a:ea typeface="Cambria" pitchFamily="34" charset="-122"/>
                            <a:cs typeface="Cambria" pitchFamily="34" charset="-120"/>
                          </a:rPr>
                          <m:t>λ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145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600" b="0" i="0" dirty="0" smtClean="0">
                            <a:solidFill>
                              <a:srgbClr val="17232A"/>
                            </a:solidFill>
                            <a:latin typeface="Cambria" pitchFamily="34" charset="0"/>
                            <a:ea typeface="Cambria" pitchFamily="34" charset="-122"/>
                            <a:cs typeface="Cambria" pitchFamily="34" charset="-120"/>
                          </a:rPr>
                          <m:t>r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145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 · (t 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rgbClr val="17232A"/>
                            </a:solidFill>
                            <a:latin typeface="Cambria" pitchFamily="34" charset="0"/>
                            <a:ea typeface="Cambria" pitchFamily="34" charset="-122"/>
                            <a:cs typeface="Cambria" pitchFamily="34" charset="-120"/>
                          </a:rPr>
                          <m:t>τ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600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145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)⁺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7232A"/>
                            </a:solidFill>
                            <a:latin typeface="Cambria" pitchFamily="34" charset="0"/>
                            <a:ea typeface="Cambria" pitchFamily="34" charset="-122"/>
                            <a:cs typeface="Cambria" pitchFamily="34" charset="-120"/>
                          </a:rPr>
                          <m:t>r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145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 &gt; 0</a:t>
                </a:r>
                <a:endParaRPr lang="en-US" sz="1450" dirty="0"/>
              </a:p>
              <a:p>
                <a:pPr marL="0" indent="0">
                  <a:lnSpc>
                    <a:spcPct val="135000"/>
                  </a:lnSpc>
                  <a:buNone/>
                </a:pPr>
                <a:endParaRPr lang="en-US" sz="1450" dirty="0"/>
              </a:p>
              <a:p>
                <a:pPr>
                  <a:lnSpc>
                    <a:spcPct val="135000"/>
                  </a:lnSpc>
                </a:pPr>
                <a:r>
                  <a:rPr lang="en-US" sz="145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Goal: under  P(false alarm) ≤ α , minimize detection delay   E[(T 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7232A"/>
                            </a:solidFill>
                            <a:latin typeface="Cambria" pitchFamily="34" charset="0"/>
                            <a:ea typeface="Cambria" pitchFamily="34" charset="-122"/>
                            <a:cs typeface="Cambria" pitchFamily="34" charset="-120"/>
                          </a:rPr>
                          <m:t>τ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145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)⁺]</a:t>
                </a:r>
                <a:endParaRPr lang="en-US" sz="1450" dirty="0"/>
              </a:p>
            </p:txBody>
          </p:sp>
        </mc:Choice>
        <mc:Fallback xmlns=""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3986784"/>
                <a:ext cx="10515600" cy="20116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One: Turning Sewage Into Thousands of Curves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Nothing is ever matched against a pathogen database — that is what makes it pathogen-agnostic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0482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Weekly Sequencing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245059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Wastewater sampling → metagenomic sequencing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About 10 million reads per run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87368" y="2286000"/>
            <a:ext cx="256032" cy="36576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325112" y="141732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99432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0482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Group the Reads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99432" y="2450592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Similar sequences get binned together (k-mer or contig based)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Each group gets an ID — no need to know what it 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63840" y="2286000"/>
            <a:ext cx="256032" cy="36576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101584" y="141732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75904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0482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Count and Normalize</a:t>
            </a:r>
            <a:endParaRPr lang="en-US" sz="15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19"/>
              <p:cNvSpPr/>
              <p:nvPr/>
            </p:nvSpPr>
            <p:spPr>
              <a:xfrm>
                <a:off x="8375904" y="2450592"/>
                <a:ext cx="3017520" cy="10058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𝑌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200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5F7178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(t) = read count falling into cluster i</a:t>
                </a:r>
                <a:endParaRPr lang="en-US" sz="1200" dirty="0"/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200" dirty="0">
                    <a:solidFill>
                      <a:srgbClr val="5F7178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Corrected for run depth, batch, dilution, recovery</a:t>
                </a:r>
                <a:endParaRPr lang="en-US" sz="1200" dirty="0"/>
              </a:p>
            </p:txBody>
          </p:sp>
        </mc:Choice>
        <mc:Fallback xmlns="">
          <p:sp>
            <p:nvSpPr>
              <p:cNvPr id="21" name="Text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5904" y="2450592"/>
                <a:ext cx="3017520" cy="1005840"/>
              </a:xfrm>
              <a:prstGeom prst="rect">
                <a:avLst/>
              </a:prstGeom>
              <a:blipFill>
                <a:blip r:embed="rId3"/>
                <a:stretch>
                  <a:fillRect l="-303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hape 20"/>
          <p:cNvSpPr/>
          <p:nvPr/>
        </p:nvSpPr>
        <p:spPr>
          <a:xfrm>
            <a:off x="758952" y="4047694"/>
            <a:ext cx="5504098" cy="1690165"/>
          </a:xfrm>
          <a:prstGeom prst="roundRect">
            <a:avLst>
              <a:gd name="adj" fmla="val 2500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30026" y="4183822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We Actually Measure</a:t>
            </a:r>
            <a:endParaRPr lang="en-US" sz="11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 22"/>
              <p:cNvSpPr/>
              <p:nvPr/>
            </p:nvSpPr>
            <p:spPr>
              <a:xfrm>
                <a:off x="1030026" y="4505631"/>
                <a:ext cx="4875227" cy="11751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3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𝑌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(t):  read count of cluster i in week t ,   i = 1, …, m</a:t>
                </a:r>
                <a:endParaRPr lang="en-US" sz="1400" dirty="0"/>
              </a:p>
              <a:p>
                <a:pPr>
                  <a:lnSpc>
                    <a:spcPct val="135000"/>
                  </a:lnSpc>
                </a:pPr>
                <a:r>
                  <a:rPr lang="en-US" sz="14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N(t)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7232A"/>
                            </a:solidFill>
                            <a:latin typeface="Cambria" pitchFamily="34" charset="0"/>
                            <a:ea typeface="Cambria" pitchFamily="34" charset="-122"/>
                            <a:cs typeface="Cambria" pitchFamily="34" charset="-120"/>
                          </a:rPr>
                          <m:t>Σ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i</m:t>
                        </m:r>
                      </m:sub>
                    </m:sSub>
                    <m:r>
                      <a:rPr lang="en-US" sz="1400" i="1" dirty="0">
                        <a:solidFill>
                          <a:srgbClr val="17232A"/>
                        </a:solidFill>
                        <a:latin typeface="Cambria Math" panose="02040503050406030204" pitchFamily="18" charset="0"/>
                        <a:ea typeface="Cambria" pitchFamily="34" charset="-122"/>
                      </a:rPr>
                      <m:t> </m:t>
                    </m:r>
                    <m:sSub>
                      <m:sSubPr>
                        <m:ctrlP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𝑌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(t)    (library depth that week)</a:t>
                </a:r>
                <a:endParaRPr lang="en-US" sz="1400" dirty="0"/>
              </a:p>
              <a:p>
                <a:pPr>
                  <a:lnSpc>
                    <a:spcPct val="135000"/>
                  </a:lnSpc>
                </a:pPr>
                <a:r>
                  <a:rPr lang="en-US" sz="1400" dirty="0">
                    <a:solidFill>
                      <a:srgbClr val="17232A"/>
                    </a:solidFill>
                    <a:ea typeface="Cambria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7232A"/>
                            </a:solidFill>
                            <a:latin typeface="Cambria" pitchFamily="34" charset="0"/>
                            <a:ea typeface="Cambria" pitchFamily="34" charset="-122"/>
                            <a:cs typeface="Cambria" pitchFamily="34" charset="-120"/>
                          </a:rPr>
                          <m:t>π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(t)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𝑌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(t) / N(t)   (relative abundance, compositional data)</a:t>
                </a:r>
                <a:endParaRPr lang="en-US" sz="1400" dirty="0"/>
              </a:p>
            </p:txBody>
          </p:sp>
        </mc:Choice>
        <mc:Fallback>
          <p:sp>
            <p:nvSpPr>
              <p:cNvPr id="24" name="Text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0026" y="4505631"/>
                <a:ext cx="4875227" cy="1175152"/>
              </a:xfrm>
              <a:prstGeom prst="rect">
                <a:avLst/>
              </a:prstGeom>
              <a:blipFill>
                <a:blip r:embed="rId4"/>
                <a:stretch>
                  <a:fillRect l="-2250" t="-51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hape 23"/>
          <p:cNvSpPr/>
          <p:nvPr/>
        </p:nvSpPr>
        <p:spPr>
          <a:xfrm>
            <a:off x="6973922" y="4049317"/>
            <a:ext cx="4023360" cy="1690165"/>
          </a:xfrm>
          <a:prstGeom prst="roundRect">
            <a:avLst>
              <a:gd name="adj" fmla="val 2500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050024" y="41010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One Thing That Must Hold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091909" y="4425106"/>
            <a:ext cx="3787385" cy="1189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Cluster IDs must be stable across time: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This week's #4417 and next week's #4417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must be the same biological entity.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Otherwise the “time series” simply doesn't exist.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Counts as Normal Week-to-Week Wobble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 you can spot a real rise, you have to know how much noise is ordinary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532120" cy="2788920"/>
          </a:xfrm>
          <a:prstGeom prst="roundRect">
            <a:avLst>
              <a:gd name="adj" fmla="val 1967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5544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 cluster at a time: counts wobble more than pure chance would give</a:t>
            </a:r>
            <a:endParaRPr lang="en-US" sz="11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685800" y="1883664"/>
                <a:ext cx="5257800" cy="21488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3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chemeClr val="tx1"/>
                            </a:solidFill>
                            <a:latin typeface="Cambria" pitchFamily="34" charset="0"/>
                            <a:ea typeface="Cambria" pitchFamily="34" charset="-122"/>
                            <a:cs typeface="Cambria" pitchFamily="34" charset="-120"/>
                          </a:rPr>
                          <m:t>Y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" pitchFamily="34" charset="-122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(t) ~ NB(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7232A"/>
                            </a:solidFill>
                            <a:latin typeface="Cambria" pitchFamily="34" charset="0"/>
                            <a:ea typeface="Cambria" pitchFamily="34" charset="-122"/>
                            <a:cs typeface="Cambria" pitchFamily="34" charset="-120"/>
                          </a:rPr>
                          <m:t>μ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(t),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7232A"/>
                            </a:solidFill>
                            <a:latin typeface="Cambria" pitchFamily="34" charset="0"/>
                            <a:ea typeface="Cambria" pitchFamily="34" charset="-122"/>
                            <a:cs typeface="Cambria" pitchFamily="34" charset="-120"/>
                          </a:rPr>
                          <m:t>φ</m:t>
                        </m:r>
                      </m:e>
                      <m:sub>
                        <m:r>
                          <a:rPr lang="en-US" sz="1400" i="1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𝑖</m:t>
                        </m:r>
                      </m:sub>
                    </m:sSub>
                    <m:r>
                      <a:rPr lang="en-US" sz="1400" i="1">
                        <a:solidFill>
                          <a:srgbClr val="17232A"/>
                        </a:solidFill>
                        <a:latin typeface="Cambria Math" panose="02040503050406030204" pitchFamily="18" charset="0"/>
                        <a:ea typeface="Cambria" pitchFamily="34" charset="-122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 )</a:t>
                </a:r>
                <a:endParaRPr lang="en-US" sz="1400" dirty="0"/>
              </a:p>
              <a:p>
                <a:pPr marL="0" indent="0">
                  <a:lnSpc>
                    <a:spcPct val="135000"/>
                  </a:lnSpc>
                  <a:buNone/>
                </a:pPr>
                <a:endParaRPr lang="en-US" sz="1400" dirty="0"/>
              </a:p>
              <a:p>
                <a:pPr marL="0" indent="0">
                  <a:lnSpc>
                    <a:spcPct val="135000"/>
                  </a:lnSpc>
                  <a:buNone/>
                </a:pPr>
                <a:r>
                  <a:rPr lang="en-US" sz="14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E[Y] = μ ,   Var[Y] = μ + μ² / φ</a:t>
                </a:r>
                <a:endParaRPr lang="en-US" sz="1400" dirty="0"/>
              </a:p>
              <a:p>
                <a:pPr marL="0" indent="0">
                  <a:lnSpc>
                    <a:spcPct val="135000"/>
                  </a:lnSpc>
                  <a:buNone/>
                </a:pPr>
                <a:endParaRPr lang="en-US" sz="1400" dirty="0"/>
              </a:p>
            </p:txBody>
          </p:sp>
        </mc:Choice>
        <mc:Fallback xmlns=""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" y="1883664"/>
                <a:ext cx="5257800" cy="2148840"/>
              </a:xfrm>
              <a:prstGeom prst="rect">
                <a:avLst/>
              </a:prstGeom>
              <a:blipFill>
                <a:blip r:embed="rId3"/>
                <a:stretch>
                  <a:fillRect l="-2088" t="-85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6291072" y="1371600"/>
            <a:ext cx="5349240" cy="2788920"/>
          </a:xfrm>
          <a:prstGeom prst="roundRect">
            <a:avLst>
              <a:gd name="adj" fmla="val 1967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65392" y="155448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 clusters together: they share one fixed sequencing budget</a:t>
            </a:r>
            <a:endParaRPr lang="en-US" sz="11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6565392" y="1883664"/>
                <a:ext cx="4937760" cy="21488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35000"/>
                  </a:lnSpc>
                </a:pPr>
                <a:r>
                  <a:rPr lang="en-US" sz="135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(Y₁,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200" dirty="0" smtClean="0">
                            <a:solidFill>
                              <a:srgbClr val="17232A"/>
                            </a:solidFill>
                            <a:latin typeface="Cambria" pitchFamily="34" charset="0"/>
                            <a:ea typeface="Cambria" pitchFamily="34" charset="-122"/>
                            <a:cs typeface="Cambria" pitchFamily="34" charset="-120"/>
                          </a:rPr>
                          <m:t>Y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𝑚</m:t>
                        </m:r>
                      </m:sub>
                    </m:sSub>
                    <m:r>
                      <a:rPr lang="en-US" sz="1200" i="1">
                        <a:solidFill>
                          <a:srgbClr val="17232A"/>
                        </a:solidFill>
                        <a:latin typeface="Cambria Math" panose="02040503050406030204" pitchFamily="18" charset="0"/>
                        <a:ea typeface="Cambria" pitchFamily="34" charset="-122"/>
                      </a:rPr>
                      <m:t> </m:t>
                    </m:r>
                  </m:oMath>
                </a14:m>
                <a:r>
                  <a:rPr lang="en-US" sz="135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)(t) ~ DM( N(t), α(t) )</a:t>
                </a:r>
                <a:endParaRPr lang="en-US" sz="1350" dirty="0"/>
              </a:p>
              <a:p>
                <a:pPr marL="0" indent="0">
                  <a:lnSpc>
                    <a:spcPct val="135000"/>
                  </a:lnSpc>
                  <a:buNone/>
                </a:pPr>
                <a:endParaRPr lang="en-US" sz="1350" dirty="0"/>
              </a:p>
              <a:p>
                <a:pPr marL="0" indent="0">
                  <a:lnSpc>
                    <a:spcPct val="135000"/>
                  </a:lnSpc>
                  <a:buNone/>
                </a:pPr>
                <a:endParaRPr lang="en-US" sz="1350" dirty="0"/>
              </a:p>
            </p:txBody>
          </p:sp>
        </mc:Choice>
        <mc:Fallback xmlns=""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392" y="1883664"/>
                <a:ext cx="4937760" cy="2148840"/>
              </a:xfrm>
              <a:prstGeom prst="rect">
                <a:avLst/>
              </a:prstGeom>
              <a:blipFill>
                <a:blip r:embed="rId4"/>
                <a:stretch>
                  <a:fillRect l="-2099" t="-85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12"/>
          <p:cNvSpPr/>
          <p:nvPr/>
        </p:nvSpPr>
        <p:spPr>
          <a:xfrm>
            <a:off x="548640" y="4370832"/>
            <a:ext cx="11091672" cy="1737360"/>
          </a:xfrm>
          <a:prstGeom prst="roundRect">
            <a:avLst>
              <a:gd name="adj" fmla="val 3158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45537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Each Symbol Is Soaking Up</a:t>
            </a:r>
            <a:endParaRPr lang="en-US" sz="11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868680" y="4882896"/>
                <a:ext cx="10515600" cy="1143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lnSpc>
                    <a:spcPct val="145000"/>
                  </a:lnSpc>
                  <a:buNone/>
                </a:pPr>
                <a:r>
                  <a:rPr lang="en-US" sz="1250" b="1" dirty="0">
                    <a:solidFill>
                      <a:srgbClr val="1C7293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s(t)</a:t>
                </a:r>
                <a:r>
                  <a:rPr lang="en-US" sz="1250" dirty="0">
                    <a:solidFill>
                      <a:srgbClr val="17232A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  effective library size  </a:t>
                </a:r>
                <a:r>
                  <a:rPr lang="en-US" sz="1250" b="1" dirty="0">
                    <a:solidFill>
                      <a:srgbClr val="1C7293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x(t)</a:t>
                </a:r>
                <a:r>
                  <a:rPr lang="en-US" sz="1250" dirty="0">
                    <a:solidFill>
                      <a:srgbClr val="17232A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  batch/run effects, PMMoV &amp; crAssphage load, flow &amp; dilution, extraction recovery</a:t>
                </a:r>
                <a:endParaRPr lang="en-US" sz="1250" dirty="0"/>
              </a:p>
              <a:p>
                <a:pPr>
                  <a:lnSpc>
                    <a:spcPct val="14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200" b="1" dirty="0">
                            <a:solidFill>
                              <a:srgbClr val="FF0000"/>
                            </a:solidFill>
                            <a:latin typeface="Cambria" pitchFamily="34" charset="0"/>
                            <a:ea typeface="Cambria" pitchFamily="34" charset="-122"/>
                            <a:cs typeface="Cambria" pitchFamily="34" charset="-120"/>
                          </a:rPr>
                          <m:t>η</m:t>
                        </m:r>
                      </m:e>
                      <m:sub>
                        <m:r>
                          <a:rPr lang="en-US" sz="12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50" b="1" dirty="0">
                    <a:solidFill>
                      <a:srgbClr val="D9531E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(t)</a:t>
                </a:r>
                <a:r>
                  <a:rPr lang="en-US" sz="1250" dirty="0">
                    <a:solidFill>
                      <a:srgbClr val="17232A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  latent log-abundance under test — the only term change-point detection targets</a:t>
                </a:r>
                <a:endParaRPr lang="en-US" sz="1250" dirty="0"/>
              </a:p>
              <a:p>
                <a:pPr marL="0" indent="0">
                  <a:lnSpc>
                    <a:spcPct val="145000"/>
                  </a:lnSpc>
                  <a:buNone/>
                </a:pPr>
                <a:r>
                  <a:rPr lang="en-US" sz="1250" b="1" dirty="0">
                    <a:solidFill>
                      <a:srgbClr val="1C7293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φ, the over-dispersion factor</a:t>
                </a:r>
                <a:r>
                  <a:rPr lang="en-US" sz="1250" dirty="0">
                    <a:solidFill>
                      <a:srgbClr val="17232A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  sets how big a jump must be before it counts as abnormal; assuming pure Poisson noise underestimates the wobble and produces daily false alarms</a:t>
                </a:r>
                <a:endParaRPr lang="en-US" sz="1250" dirty="0"/>
              </a:p>
            </p:txBody>
          </p:sp>
        </mc:Choice>
        <mc:Fallback xmlns=""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4882896"/>
                <a:ext cx="10515600" cy="1143000"/>
              </a:xfrm>
              <a:prstGeom prst="rect">
                <a:avLst/>
              </a:prstGeom>
              <a:blipFill>
                <a:blip r:embed="rId5"/>
                <a:stretch>
                  <a:fillRect l="-92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26FEF514-5B81-4AD7-A4FF-CE485F361F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063736"/>
            <a:ext cx="2816963" cy="3652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9BB7D8E-F06D-46A3-83F9-717A2ADD8B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6829" y="2389170"/>
            <a:ext cx="2108733" cy="70480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BBAB49A-7304-4F37-A0FE-1CE5E9C450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6829" y="3256334"/>
            <a:ext cx="2354021" cy="4906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Percentage Trap: A Share Can Fall While the Amount Rises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Sequencing reports shares of a fixed total, not absolute amounts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/ 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4983480" cy="2423160"/>
          </a:xfrm>
          <a:prstGeom prst="roundRect">
            <a:avLst>
              <a:gd name="adj" fmla="val 2264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5544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Worked Example: the Target Doubles, Its Share Halves</a:t>
            </a:r>
            <a:endParaRPr lang="en-US" sz="11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822960" y="1883664"/>
                <a:ext cx="4480560" cy="1783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15000"/>
                  </a:lnSpc>
                </a:pPr>
                <a:r>
                  <a:rPr lang="en-US" sz="13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Target absolute load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n-US" sz="13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𝐶</m:t>
                        </m:r>
                      </m:e>
                      <m:sub>
                        <m:r>
                          <a:rPr lang="en-US" sz="1300" b="0" i="1" dirty="0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𝑖</m:t>
                        </m:r>
                      </m:sub>
                    </m:sSub>
                  </m:oMath>
                </a14:m>
                <a:endParaRPr lang="en-US" sz="1300" dirty="0"/>
              </a:p>
              <a:p>
                <a:pPr marL="0" indent="0">
                  <a:lnSpc>
                    <a:spcPct val="115000"/>
                  </a:lnSpc>
                  <a:buNone/>
                </a:pPr>
                <a:r>
                  <a:rPr lang="en-US" sz="1300" b="1" dirty="0">
                    <a:solidFill>
                      <a:srgbClr val="D9531E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100  →  200        ×2  ↑</a:t>
                </a:r>
                <a:endParaRPr lang="en-US" sz="1300" dirty="0"/>
              </a:p>
              <a:p>
                <a:pPr marL="0" indent="0">
                  <a:lnSpc>
                    <a:spcPct val="115000"/>
                  </a:lnSpc>
                  <a:buNone/>
                </a:pPr>
                <a:endParaRPr lang="en-US" sz="1300" dirty="0"/>
              </a:p>
              <a:p>
                <a:pPr marL="0" indent="0">
                  <a:lnSpc>
                    <a:spcPct val="115000"/>
                  </a:lnSpc>
                  <a:buNone/>
                </a:pPr>
                <a:r>
                  <a:rPr lang="en-US" sz="13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Background total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1300" i="1" dirty="0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1300" b="0" i="1" dirty="0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𝑗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sz="1300" i="1" dirty="0" smtClean="0">
                                <a:solidFill>
                                  <a:srgbClr val="17232A"/>
                                </a:solidFill>
                                <a:latin typeface="Cambria Math" panose="02040503050406030204" pitchFamily="18" charset="0"/>
                                <a:ea typeface="Cambria" pitchFamily="34" charset="-122"/>
                              </a:rPr>
                            </m:ctrlPr>
                          </m:sSubPr>
                          <m:e>
                            <m:r>
                              <a:rPr lang="en-US" sz="1300" b="0" i="1" dirty="0" smtClean="0">
                                <a:solidFill>
                                  <a:srgbClr val="17232A"/>
                                </a:solidFill>
                                <a:latin typeface="Cambria Math" panose="02040503050406030204" pitchFamily="18" charset="0"/>
                                <a:ea typeface="Cambria" pitchFamily="34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sz="1300" b="0" i="1" dirty="0" smtClean="0">
                                <a:solidFill>
                                  <a:srgbClr val="17232A"/>
                                </a:solidFill>
                                <a:latin typeface="Cambria Math" panose="02040503050406030204" pitchFamily="18" charset="0"/>
                                <a:ea typeface="Cambria" pitchFamily="34" charset="-122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sz="1300" dirty="0"/>
              </a:p>
              <a:p>
                <a:pPr marL="0" indent="0">
                  <a:lnSpc>
                    <a:spcPct val="115000"/>
                  </a:lnSpc>
                  <a:buNone/>
                </a:pPr>
                <a:r>
                  <a:rPr lang="en-US" sz="13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10,000  →  40,000        ×4  ↑</a:t>
                </a:r>
                <a:endParaRPr lang="en-US" sz="1300" dirty="0"/>
              </a:p>
              <a:p>
                <a:pPr marL="0" indent="0">
                  <a:lnSpc>
                    <a:spcPct val="115000"/>
                  </a:lnSpc>
                  <a:buNone/>
                </a:pPr>
                <a:endParaRPr lang="en-US" sz="1300" dirty="0"/>
              </a:p>
              <a:p>
                <a:pPr>
                  <a:lnSpc>
                    <a:spcPct val="115000"/>
                  </a:lnSpc>
                </a:pPr>
                <a:r>
                  <a:rPr lang="en-US" sz="13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Observed relative abundance  </a:t>
                </a:r>
                <a14:m>
                  <m:oMath xmlns:m="http://schemas.openxmlformats.org/officeDocument/2006/math">
                    <m:r>
                      <a:rPr lang="en-US" sz="1300" i="1" smtClean="0">
                        <a:solidFill>
                          <a:srgbClr val="17232A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𝐴</m:t>
                    </m:r>
                    <m:r>
                      <a:rPr lang="en-US" sz="1300" i="1" smtClean="0">
                        <a:solidFill>
                          <a:srgbClr val="17232A"/>
                        </a:solidFill>
                        <a:latin typeface="Cambria Math" panose="02040503050406030204" pitchFamily="18" charset="0"/>
                        <a:ea typeface="Cambria" pitchFamily="34" charset="-122"/>
                        <a:cs typeface="Cambria" pitchFamily="34" charset="-120"/>
                      </a:rPr>
                      <m:t>=</m:t>
                    </m:r>
                    <m:sSub>
                      <m:sSubPr>
                        <m:ctrlPr>
                          <a:rPr lang="el-GR" sz="1300" i="1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l-GR" sz="1300" i="1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𝜋</m:t>
                        </m:r>
                      </m:e>
                      <m:sub>
                        <m:r>
                          <a:rPr lang="en-US" sz="1300" b="0" i="1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𝑖</m:t>
                        </m:r>
                      </m:sub>
                    </m:sSub>
                  </m:oMath>
                </a14:m>
                <a:endParaRPr lang="en-US" sz="1300" dirty="0"/>
              </a:p>
              <a:p>
                <a:pPr marL="0" indent="0">
                  <a:lnSpc>
                    <a:spcPct val="115000"/>
                  </a:lnSpc>
                  <a:buNone/>
                </a:pPr>
                <a:r>
                  <a:rPr lang="en-US" sz="1300" b="1" dirty="0">
                    <a:solidFill>
                      <a:srgbClr val="0B3C49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1%  →  0.5%        halved  ↓</a:t>
                </a:r>
                <a:endParaRPr lang="en-US" sz="1300" dirty="0"/>
              </a:p>
            </p:txBody>
          </p:sp>
        </mc:Choice>
        <mc:Fallback xmlns=""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883664"/>
                <a:ext cx="4480560" cy="1783080"/>
              </a:xfrm>
              <a:prstGeom prst="rect">
                <a:avLst/>
              </a:prstGeom>
              <a:blipFill>
                <a:blip r:embed="rId3"/>
                <a:stretch>
                  <a:fillRect l="-2177" t="-2048" b="-785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5742432" y="1371600"/>
            <a:ext cx="5897880" cy="2423160"/>
          </a:xfrm>
          <a:prstGeom prst="roundRect">
            <a:avLst>
              <a:gd name="adj" fmla="val 2264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16752" y="15544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Fix: Compare Against the Average, Not the Total (CLR)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16752" y="1883664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endParaRPr lang="en-US" sz="1300" dirty="0">
              <a:solidFill>
                <a:srgbClr val="17232A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endParaRPr lang="en-US" sz="1300" dirty="0">
              <a:solidFill>
                <a:srgbClr val="17232A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endParaRPr lang="en-US" sz="1300" dirty="0">
              <a:solidFill>
                <a:srgbClr val="17232A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invariance: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05072"/>
            <a:ext cx="11091672" cy="2103120"/>
          </a:xfrm>
          <a:prstGeom prst="roundRect">
            <a:avLst>
              <a:gd name="adj" fmla="val 2609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418795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Two Practical Ways Out</a:t>
            </a:r>
            <a:endParaRPr lang="en-US" sz="11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14"/>
              <p:cNvSpPr/>
              <p:nvPr/>
            </p:nvSpPr>
            <p:spPr>
              <a:xfrm>
                <a:off x="868680" y="4517136"/>
                <a:ext cx="10515600" cy="14630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40000"/>
                  </a:lnSpc>
                </a:pPr>
                <a:r>
                  <a:rPr lang="en-US" sz="1250" b="1" dirty="0">
                    <a:solidFill>
                      <a:srgbClr val="1C7293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Reference Set</a:t>
                </a:r>
                <a:r>
                  <a:rPr lang="en-US" sz="1250" dirty="0">
                    <a:solidFill>
                      <a:srgbClr val="17232A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 After differencing,  Δ</a:t>
                </a:r>
                <a:r>
                  <a:rPr lang="en-US" sz="1200" dirty="0">
                    <a:solidFill>
                      <a:srgbClr val="17232A"/>
                    </a:solidFill>
                    <a:ea typeface="Cambria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1200" dirty="0">
                            <a:solidFill>
                              <a:srgbClr val="17232A"/>
                            </a:solidFill>
                            <a:latin typeface="Microsoft YaHei" pitchFamily="34" charset="0"/>
                            <a:ea typeface="Microsoft YaHei" pitchFamily="34" charset="-122"/>
                            <a:cs typeface="Microsoft YaHei" pitchFamily="34" charset="-120"/>
                          </a:rPr>
                          <m:t>clr</m:t>
                        </m:r>
                      </m:e>
                      <m:sub>
                        <m:r>
                          <a:rPr lang="en-US" sz="12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50" dirty="0">
                    <a:solidFill>
                      <a:srgbClr val="17232A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(t) = Δlog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𝐶</m:t>
                        </m:r>
                      </m:e>
                      <m:sub>
                        <m:r>
                          <a:rPr lang="en-US" sz="1200" b="0" i="1" dirty="0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𝑖</m:t>
                        </m:r>
                      </m:sub>
                    </m:sSub>
                    <m:r>
                      <a:rPr lang="en-US" sz="1200" i="1" dirty="0">
                        <a:solidFill>
                          <a:srgbClr val="17232A"/>
                        </a:solidFill>
                        <a:latin typeface="Cambria Math" panose="02040503050406030204" pitchFamily="18" charset="0"/>
                        <a:ea typeface="Cambria" pitchFamily="34" charset="-122"/>
                      </a:rPr>
                      <m:t> </m:t>
                    </m:r>
                  </m:oMath>
                </a14:m>
                <a:r>
                  <a:rPr lang="en-US" sz="1250" dirty="0">
                    <a:solidFill>
                      <a:srgbClr val="17232A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(t) − Δ(mean log load). If the reference set is stable, the CLR difference equals the log change in absolute load.</a:t>
                </a:r>
                <a:endParaRPr lang="en-US" sz="1250" dirty="0"/>
              </a:p>
              <a:p>
                <a:pPr>
                  <a:lnSpc>
                    <a:spcPct val="140000"/>
                  </a:lnSpc>
                </a:pPr>
                <a:r>
                  <a:rPr lang="en-US" sz="1250" b="1" dirty="0">
                    <a:solidFill>
                      <a:srgbClr val="1C7293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Absolute Anchoring</a:t>
                </a:r>
                <a:r>
                  <a:rPr lang="en-US" sz="1250" dirty="0">
                    <a:solidFill>
                      <a:srgbClr val="17232A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 log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17232A"/>
                            </a:solidFill>
                            <a:latin typeface="Microsoft YaHei" pitchFamily="34" charset="0"/>
                            <a:ea typeface="Microsoft YaHei" pitchFamily="34" charset="-122"/>
                            <a:cs typeface="Microsoft YaHei" pitchFamily="34" charset="-120"/>
                          </a:rPr>
                          <m:t>ĉ</m:t>
                        </m:r>
                      </m:e>
                      <m:sub>
                        <m:r>
                          <a:rPr lang="en-US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50" dirty="0">
                    <a:solidFill>
                      <a:srgbClr val="17232A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(t) = log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200" i="1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l-GR" sz="1200" i="1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  <a:cs typeface="Cambria" pitchFamily="34" charset="-120"/>
                          </a:rPr>
                          <m:t>𝜋</m:t>
                        </m:r>
                      </m:e>
                      <m:sub>
                        <m:r>
                          <a:rPr lang="en-US" sz="1200" i="1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50" dirty="0">
                    <a:solidFill>
                      <a:srgbClr val="17232A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(t) + log Ĉ(t), where Ĉ(t) is estimated via spike-in standards, ddPCR, or PMMoV × flow.</a:t>
                </a:r>
                <a:endParaRPr lang="en-US" sz="1250" dirty="0"/>
              </a:p>
              <a:p>
                <a:pPr marL="0" indent="0">
                  <a:lnSpc>
                    <a:spcPct val="140000"/>
                  </a:lnSpc>
                  <a:buNone/>
                </a:pPr>
                <a:endParaRPr lang="en-US" sz="1250" dirty="0"/>
              </a:p>
              <a:p>
                <a:pPr marL="0" indent="0">
                  <a:lnSpc>
                    <a:spcPct val="140000"/>
                  </a:lnSpc>
                  <a:buNone/>
                </a:pPr>
                <a:r>
                  <a:rPr lang="en-US" sz="1250" i="1" dirty="0">
                    <a:solidFill>
                      <a:srgbClr val="D9531E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Which normalization works best is itself an open question the RFP names explicitly — so it is a deliverable, not overhead.</a:t>
                </a:r>
                <a:endParaRPr lang="en-US" sz="1250" dirty="0"/>
              </a:p>
            </p:txBody>
          </p:sp>
        </mc:Choice>
        <mc:Fallback xmlns=""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4517136"/>
                <a:ext cx="10515600" cy="1463040"/>
              </a:xfrm>
              <a:prstGeom prst="rect">
                <a:avLst/>
              </a:prstGeom>
              <a:blipFill>
                <a:blip r:embed="rId4"/>
                <a:stretch>
                  <a:fillRect l="-928" r="-638" b="-333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6CCE6128-2E6D-4F03-8B32-6A2BBF6544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2893" y="1914263"/>
            <a:ext cx="4947903" cy="72356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7AD1BF9-280F-4B6D-983E-E7909CCC79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6752" y="3018689"/>
            <a:ext cx="2471527" cy="6663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an Outbreak Looks Like: Steady Doubling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 detect a behavior, not an identity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/ 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71599"/>
            <a:ext cx="5029200" cy="3430645"/>
          </a:xfrm>
          <a:prstGeom prst="roundRect">
            <a:avLst>
              <a:gd name="adj" fmla="val 1791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5544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Real Growth Has to Be Exponential</a:t>
            </a:r>
            <a:endParaRPr lang="en-US" sz="11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822960" y="1901952"/>
                <a:ext cx="4663440" cy="237744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35000"/>
                  </a:lnSpc>
                </a:pPr>
                <a:r>
                  <a:rPr lang="en-US" sz="13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Early epidemic:  I(t) ≈ I₀ ·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300" i="1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pPr>
                      <m:e>
                        <m:r>
                          <a:rPr lang="en-US" sz="1300" b="0" i="1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𝑒</m:t>
                        </m:r>
                      </m:e>
                      <m:sup>
                        <m:r>
                          <a:rPr lang="en-US" sz="1300" b="0" i="1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𝑟𝑡</m:t>
                        </m:r>
                      </m:sup>
                    </m:sSup>
                  </m:oMath>
                </a14:m>
                <a:r>
                  <a:rPr lang="en-US" sz="13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 ,   r = β − γ , </a:t>
                </a:r>
                <a:r>
                  <a:rPr lang="en-US" sz="900" b="1" dirty="0"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SIR infectious disease model</a:t>
                </a:r>
              </a:p>
              <a:p>
                <a:pPr>
                  <a:lnSpc>
                    <a:spcPct val="135000"/>
                  </a:lnSpc>
                </a:pPr>
                <a:r>
                  <a:rPr lang="en-US" sz="1300" dirty="0">
                    <a:solidFill>
                      <a:srgbClr val="FF0000"/>
                    </a:solidFill>
                  </a:rPr>
                  <a:t>r</a:t>
                </a:r>
                <a:r>
                  <a:rPr lang="en-US" sz="1300" dirty="0"/>
                  <a:t>: </a:t>
                </a:r>
                <a:r>
                  <a:rPr lang="en-US" sz="1400" dirty="0"/>
                  <a:t>epidemic growth rate, </a:t>
                </a:r>
                <a:r>
                  <a:rPr lang="en-US" sz="1300" dirty="0">
                    <a:solidFill>
                      <a:srgbClr val="FF0000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β</a:t>
                </a:r>
                <a:r>
                  <a:rPr lang="en-US" sz="13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: Transmission rate, </a:t>
                </a:r>
                <a:r>
                  <a:rPr lang="en-US" sz="1300" dirty="0">
                    <a:solidFill>
                      <a:srgbClr val="FF0000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γ</a:t>
                </a:r>
                <a:r>
                  <a:rPr lang="en-US" sz="13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: Recovery rate</a:t>
                </a:r>
              </a:p>
              <a:p>
                <a:pPr>
                  <a:lnSpc>
                    <a:spcPct val="135000"/>
                  </a:lnSpc>
                </a:pPr>
                <a:r>
                  <a:rPr lang="en-US" sz="13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I₀: Number of infected individuals at the initial time point</a:t>
                </a:r>
              </a:p>
              <a:p>
                <a:pPr>
                  <a:lnSpc>
                    <a:spcPct val="135000"/>
                  </a:lnSpc>
                </a:pPr>
                <a:endParaRPr lang="en-US" sz="1300" dirty="0"/>
              </a:p>
              <a:p>
                <a:pPr>
                  <a:lnSpc>
                    <a:spcPct val="135000"/>
                  </a:lnSpc>
                </a:pPr>
                <a:r>
                  <a:rPr lang="en-US" sz="13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Shedding convolution: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n-US" sz="13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𝐶</m:t>
                        </m:r>
                      </m:e>
                      <m:sub>
                        <m:r>
                          <a:rPr lang="en-US" sz="13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𝑖</m:t>
                        </m:r>
                      </m:sub>
                    </m:sSub>
                    <m:r>
                      <a:rPr lang="en-US" sz="1300" i="1" dirty="0">
                        <a:solidFill>
                          <a:srgbClr val="17232A"/>
                        </a:solidFill>
                        <a:latin typeface="Cambria Math" panose="02040503050406030204" pitchFamily="18" charset="0"/>
                        <a:ea typeface="Cambria" pitchFamily="34" charset="-122"/>
                      </a:rPr>
                      <m:t> </m:t>
                    </m:r>
                  </m:oMath>
                </a14:m>
                <a:r>
                  <a:rPr lang="en-US" sz="13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(t) ∝ ∫ I(t − u) · s(u) du = κ · I(t)</a:t>
                </a:r>
                <a:endParaRPr lang="en-US" sz="1300" dirty="0"/>
              </a:p>
              <a:p>
                <a:pPr marL="0" indent="0">
                  <a:lnSpc>
                    <a:spcPct val="135000"/>
                  </a:lnSpc>
                  <a:buNone/>
                </a:pPr>
                <a:r>
                  <a:rPr lang="en-US" sz="13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(convolution doesn't change the exponential rate r)</a:t>
                </a:r>
                <a:endParaRPr lang="en-US" sz="1300" dirty="0"/>
              </a:p>
              <a:p>
                <a:pPr marL="0" indent="0">
                  <a:lnSpc>
                    <a:spcPct val="135000"/>
                  </a:lnSpc>
                  <a:buNone/>
                </a:pPr>
                <a:endParaRPr lang="en-US" sz="1300" dirty="0"/>
              </a:p>
              <a:p>
                <a:pPr>
                  <a:lnSpc>
                    <a:spcPct val="135000"/>
                  </a:lnSpc>
                </a:pPr>
                <a:r>
                  <a:rPr lang="en-US" sz="13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⟹   log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n-US" sz="13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𝐶</m:t>
                        </m:r>
                      </m:e>
                      <m:sub>
                        <m:r>
                          <a:rPr lang="en-US" sz="13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𝑖</m:t>
                        </m:r>
                      </m:sub>
                    </m:sSub>
                    <m:r>
                      <a:rPr lang="en-US" sz="1300" i="1" dirty="0">
                        <a:solidFill>
                          <a:srgbClr val="17232A"/>
                        </a:solidFill>
                        <a:latin typeface="Cambria Math" panose="02040503050406030204" pitchFamily="18" charset="0"/>
                        <a:ea typeface="Cambria" pitchFamily="34" charset="-122"/>
                      </a:rPr>
                      <m:t> </m:t>
                    </m:r>
                  </m:oMath>
                </a14:m>
                <a:r>
                  <a:rPr lang="en-US" sz="13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(t) = constant + r · t</a:t>
                </a:r>
                <a:endParaRPr lang="en-US" sz="1300" dirty="0"/>
              </a:p>
              <a:p>
                <a:pPr marL="0" indent="0">
                  <a:lnSpc>
                    <a:spcPct val="135000"/>
                  </a:lnSpc>
                  <a:buNone/>
                </a:pPr>
                <a:endParaRPr lang="en-US" sz="1300" dirty="0"/>
              </a:p>
              <a:p>
                <a:pPr>
                  <a:lnSpc>
                    <a:spcPct val="135000"/>
                  </a:lnSpc>
                </a:pPr>
                <a:r>
                  <a:rPr lang="en-US" sz="13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Doubling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3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n-US" sz="1300" b="0" i="1" dirty="0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𝑇</m:t>
                        </m:r>
                      </m:e>
                      <m:sub>
                        <m:r>
                          <a:rPr lang="en-US" sz="1300" b="0" i="1" dirty="0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𝑑</m:t>
                        </m:r>
                      </m:sub>
                    </m:sSub>
                    <m:r>
                      <a:rPr lang="en-US" sz="1300" i="1" dirty="0">
                        <a:solidFill>
                          <a:srgbClr val="17232A"/>
                        </a:solidFill>
                        <a:latin typeface="Cambria Math" panose="02040503050406030204" pitchFamily="18" charset="0"/>
                        <a:ea typeface="Cambria" pitchFamily="34" charset="-122"/>
                      </a:rPr>
                      <m:t> </m:t>
                    </m:r>
                  </m:oMath>
                </a14:m>
                <a:r>
                  <a:rPr lang="en-US" sz="13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 = ln 2 / r</a:t>
                </a:r>
                <a:endParaRPr lang="en-US" sz="1300" dirty="0"/>
              </a:p>
            </p:txBody>
          </p:sp>
        </mc:Choice>
        <mc:Fallback xmlns=""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901952"/>
                <a:ext cx="4663440" cy="2377440"/>
              </a:xfrm>
              <a:prstGeom prst="rect">
                <a:avLst/>
              </a:prstGeom>
              <a:blipFill>
                <a:blip r:embed="rId3"/>
                <a:stretch>
                  <a:fillRect l="-2092" t="-256" b="-16154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5788152" y="1371600"/>
            <a:ext cx="5852160" cy="3430644"/>
          </a:xfrm>
          <a:prstGeom prst="roundRect">
            <a:avLst>
              <a:gd name="adj" fmla="val 1791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62472" y="15544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 a log scale, the moment of change is a flat line tilting upward</a:t>
            </a:r>
            <a:endParaRPr lang="en-US" sz="115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6035040" y="1920240"/>
          <a:ext cx="539496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4" name="Shape 11"/>
          <p:cNvSpPr/>
          <p:nvPr/>
        </p:nvSpPr>
        <p:spPr>
          <a:xfrm>
            <a:off x="539496" y="4985124"/>
            <a:ext cx="11091672" cy="1703712"/>
          </a:xfrm>
          <a:prstGeom prst="roundRect">
            <a:avLst>
              <a:gd name="adj" fmla="val 3750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40937" y="5160144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actually doubles steadily for weeks on end?</a:t>
            </a:r>
            <a:endParaRPr lang="en-US" sz="12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Microbiome noise — wobbles around baseline, no.  Seasonality — rises and falls periodically, no.  A single contamination event — jumps once and plateaus, no.</a:t>
            </a:r>
            <a:endParaRPr lang="en-US" sz="12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1250" b="1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spreading outbreak — yes. And almost nothing else does. That's why the detector doesn't need to know what it's looking at.</a:t>
            </a:r>
            <a:endParaRPr lang="en-US" sz="12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4946360-CA56-4E16-A5CC-400D16EB14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243" y="2764416"/>
            <a:ext cx="1013076" cy="2302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Detector I: CUSUM — a Running Tally of Evidence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Add up each week’s evidence; sound the alarm once the pile gets tall enough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274239"/>
            <a:ext cx="5943600" cy="2383953"/>
          </a:xfrm>
          <a:prstGeom prst="roundRect">
            <a:avLst>
              <a:gd name="adj" fmla="val 2105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444160"/>
            <a:ext cx="5394960" cy="256032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Page’s Running Tally (1954)</a:t>
            </a:r>
            <a:endParaRPr lang="en-US" sz="11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822960" y="1772752"/>
                <a:ext cx="5577840" cy="19659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3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𝑆</m:t>
                        </m:r>
                      </m:e>
                      <m:sub>
                        <m: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𝑖</m:t>
                        </m:r>
                      </m:sub>
                    </m:sSub>
                    <m:r>
                      <a:rPr lang="en-US" sz="1400" i="1" dirty="0">
                        <a:solidFill>
                          <a:srgbClr val="17232A"/>
                        </a:solidFill>
                        <a:latin typeface="Cambria Math" panose="02040503050406030204" pitchFamily="18" charset="0"/>
                        <a:ea typeface="Cambria" pitchFamily="34" charset="-122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(0) = 0</a:t>
                </a:r>
                <a:endParaRPr lang="en-US" sz="1400" dirty="0"/>
              </a:p>
              <a:p>
                <a:pPr>
                  <a:lnSpc>
                    <a:spcPct val="13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𝑆</m:t>
                        </m:r>
                      </m:e>
                      <m:sub>
                        <m: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(t) = max { 0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𝑆</m:t>
                        </m:r>
                      </m:e>
                      <m:sub>
                        <m: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𝑖</m:t>
                        </m:r>
                      </m:sub>
                    </m:sSub>
                    <m:r>
                      <a:rPr lang="en-US" sz="1400" i="1" dirty="0">
                        <a:solidFill>
                          <a:srgbClr val="17232A"/>
                        </a:solidFill>
                        <a:latin typeface="Cambria Math" panose="02040503050406030204" pitchFamily="18" charset="0"/>
                        <a:ea typeface="Cambria" pitchFamily="34" charset="-122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(t−1)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400" i="1" dirty="0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Λ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400" b="0" i="0" dirty="0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(t) }</a:t>
                </a:r>
                <a:endParaRPr lang="en-US" sz="1400" dirty="0"/>
              </a:p>
              <a:p>
                <a:pPr marL="0" indent="0">
                  <a:lnSpc>
                    <a:spcPct val="135000"/>
                  </a:lnSpc>
                  <a:buNone/>
                </a:pPr>
                <a:endParaRPr lang="en-US" sz="1400" dirty="0"/>
              </a:p>
              <a:p>
                <a:pPr>
                  <a:lnSpc>
                    <a:spcPct val="13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Λ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(t) = log [ f₁(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𝑦</m:t>
                        </m:r>
                      </m:e>
                      <m:sub>
                        <m: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(t) ) / f₀(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𝑦</m:t>
                        </m:r>
                      </m:e>
                      <m:sub>
                        <m: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𝑖</m:t>
                        </m:r>
                      </m:sub>
                    </m:sSub>
                    <m:r>
                      <a:rPr lang="en-US" sz="1400" i="1" dirty="0">
                        <a:solidFill>
                          <a:srgbClr val="17232A"/>
                        </a:solidFill>
                        <a:latin typeface="Cambria Math" panose="02040503050406030204" pitchFamily="18" charset="0"/>
                        <a:ea typeface="Cambria" pitchFamily="34" charset="-122"/>
                      </a:rPr>
                      <m:t> </m:t>
                    </m:r>
                  </m:oMath>
                </a14:m>
                <a:r>
                  <a:rPr lang="en-US" sz="14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(t) ) ]</a:t>
                </a:r>
                <a:endParaRPr lang="en-US" sz="1400" dirty="0"/>
              </a:p>
              <a:p>
                <a:pPr marL="0" indent="0">
                  <a:lnSpc>
                    <a:spcPct val="135000"/>
                  </a:lnSpc>
                  <a:buNone/>
                </a:pPr>
                <a:endParaRPr lang="en-US" sz="1400" dirty="0"/>
              </a:p>
              <a:p>
                <a:pPr>
                  <a:lnSpc>
                    <a:spcPct val="135000"/>
                  </a:lnSpc>
                </a:pPr>
                <a:r>
                  <a:rPr lang="en-US" sz="14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Alarm time   T = inf { t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𝑆</m:t>
                        </m:r>
                      </m:e>
                      <m:sub>
                        <m: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(t) ≥ h }</a:t>
                </a:r>
                <a:endParaRPr lang="en-US" sz="1400" dirty="0"/>
              </a:p>
            </p:txBody>
          </p:sp>
        </mc:Choice>
        <mc:Fallback xmlns=""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772752"/>
                <a:ext cx="5577840" cy="1965960"/>
              </a:xfrm>
              <a:prstGeom prst="rect">
                <a:avLst/>
              </a:prstGeom>
              <a:blipFill>
                <a:blip r:embed="rId3"/>
                <a:stretch>
                  <a:fillRect l="-1967" t="-932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6702552" y="1371600"/>
            <a:ext cx="4937760" cy="2286592"/>
          </a:xfrm>
          <a:prstGeom prst="roundRect">
            <a:avLst>
              <a:gd name="adj" fmla="val 2105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76872" y="14441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Nothing Can Beat It (Lorden)</a:t>
            </a:r>
            <a:endParaRPr lang="en-US" sz="11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6976872" y="1757852"/>
                <a:ext cx="4572000" cy="167114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35000"/>
                  </a:lnSpc>
                </a:pPr>
                <a:r>
                  <a:rPr lang="en-US" sz="13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Under the constraint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𝐸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7232A"/>
                            </a:solidFill>
                            <a:latin typeface="Cambria" pitchFamily="34" charset="0"/>
                            <a:ea typeface="Cambria" pitchFamily="34" charset="-122"/>
                            <a:cs typeface="Cambria" pitchFamily="34" charset="-120"/>
                          </a:rPr>
                          <m:t>∞</m:t>
                        </m:r>
                      </m:sub>
                    </m:sSub>
                    <m:r>
                      <a:rPr lang="en-US" sz="1400" i="1" dirty="0">
                        <a:solidFill>
                          <a:srgbClr val="17232A"/>
                        </a:solidFill>
                        <a:latin typeface="Cambria Math" panose="02040503050406030204" pitchFamily="18" charset="0"/>
                        <a:ea typeface="Cambria" pitchFamily="34" charset="-122"/>
                      </a:rPr>
                      <m:t> </m:t>
                    </m:r>
                  </m:oMath>
                </a14:m>
                <a:r>
                  <a:rPr lang="en-US" sz="13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[T] ≥ γ</a:t>
                </a:r>
                <a:endParaRPr lang="en-US" sz="1300" dirty="0"/>
              </a:p>
              <a:p>
                <a:pPr marL="0" indent="0">
                  <a:lnSpc>
                    <a:spcPct val="135000"/>
                  </a:lnSpc>
                  <a:buNone/>
                </a:pPr>
                <a:r>
                  <a:rPr lang="en-US" sz="13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minimize</a:t>
                </a:r>
                <a:endParaRPr lang="en-US" sz="1300" dirty="0"/>
              </a:p>
              <a:p>
                <a:pPr>
                  <a:lnSpc>
                    <a:spcPct val="135000"/>
                  </a:lnSpc>
                </a:pPr>
                <a:r>
                  <a:rPr lang="en-US" sz="13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𝑠𝑢𝑝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7232A"/>
                            </a:solidFill>
                            <a:latin typeface="Cambria" pitchFamily="34" charset="0"/>
                            <a:ea typeface="Cambria" pitchFamily="34" charset="-122"/>
                            <a:cs typeface="Cambria" pitchFamily="34" charset="-120"/>
                          </a:rPr>
                          <m:t>τ</m:t>
                        </m:r>
                      </m:sub>
                    </m:sSub>
                    <m:r>
                      <a:rPr lang="en-US" sz="1400" i="1" dirty="0">
                        <a:solidFill>
                          <a:srgbClr val="17232A"/>
                        </a:solidFill>
                        <a:latin typeface="Cambria Math" panose="02040503050406030204" pitchFamily="18" charset="0"/>
                        <a:ea typeface="Cambria" pitchFamily="34" charset="-122"/>
                      </a:rPr>
                      <m:t> </m:t>
                    </m:r>
                  </m:oMath>
                </a14:m>
                <a:r>
                  <a:rPr lang="en-US" sz="13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 ess sup  E[ (T − τ)⁺ |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𝐹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200" dirty="0">
                            <a:solidFill>
                              <a:srgbClr val="17232A"/>
                            </a:solidFill>
                            <a:latin typeface="Cambria" pitchFamily="34" charset="0"/>
                            <a:ea typeface="Cambria" pitchFamily="34" charset="-122"/>
                            <a:cs typeface="Cambria" pitchFamily="34" charset="-120"/>
                          </a:rPr>
                          <m:t>τ</m:t>
                        </m:r>
                      </m:sub>
                    </m:sSub>
                    <m:r>
                      <a:rPr lang="en-US" sz="1200" i="1" dirty="0">
                        <a:solidFill>
                          <a:srgbClr val="17232A"/>
                        </a:solidFill>
                        <a:latin typeface="Cambria Math" panose="02040503050406030204" pitchFamily="18" charset="0"/>
                        <a:ea typeface="Cambria" pitchFamily="34" charset="-122"/>
                      </a:rPr>
                      <m:t> </m:t>
                    </m:r>
                  </m:oMath>
                </a14:m>
                <a:r>
                  <a:rPr lang="en-US" sz="13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 ]</a:t>
                </a:r>
                <a:endParaRPr lang="en-US" sz="1300" dirty="0"/>
              </a:p>
              <a:p>
                <a:pPr marL="0" indent="0">
                  <a:lnSpc>
                    <a:spcPct val="135000"/>
                  </a:lnSpc>
                  <a:buNone/>
                </a:pPr>
                <a:endParaRPr lang="en-US" sz="1300" dirty="0"/>
              </a:p>
              <a:p>
                <a:pPr marL="0" indent="0">
                  <a:lnSpc>
                    <a:spcPct val="135000"/>
                  </a:lnSpc>
                  <a:buNone/>
                </a:pPr>
                <a:r>
                  <a:rPr lang="en-US" sz="13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No detector can do better; CUSUM reaches this limit</a:t>
                </a:r>
                <a:endParaRPr lang="en-US" sz="1300" dirty="0"/>
              </a:p>
            </p:txBody>
          </p:sp>
        </mc:Choice>
        <mc:Fallback xmlns=""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6872" y="1757852"/>
                <a:ext cx="4572000" cy="1671148"/>
              </a:xfrm>
              <a:prstGeom prst="rect">
                <a:avLst/>
              </a:prstGeom>
              <a:blipFill>
                <a:blip r:embed="rId4"/>
                <a:stretch>
                  <a:fillRect l="-226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12"/>
          <p:cNvSpPr/>
          <p:nvPr/>
        </p:nvSpPr>
        <p:spPr>
          <a:xfrm>
            <a:off x="550164" y="3821600"/>
            <a:ext cx="11091672" cy="2105553"/>
          </a:xfrm>
          <a:prstGeom prst="roundRect">
            <a:avLst>
              <a:gd name="adj" fmla="val 2857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49808" y="397737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Key Trade-off: Far Fewer False Alarms Costs Very Little Delay</a:t>
            </a:r>
            <a:endParaRPr lang="en-US" sz="11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 14"/>
              <p:cNvSpPr/>
              <p:nvPr/>
            </p:nvSpPr>
            <p:spPr>
              <a:xfrm>
                <a:off x="822960" y="4303601"/>
                <a:ext cx="10634472" cy="148956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25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𝐸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200" dirty="0">
                            <a:solidFill>
                              <a:srgbClr val="17232A"/>
                            </a:solidFill>
                            <a:latin typeface="Cambria" pitchFamily="34" charset="0"/>
                            <a:ea typeface="Cambria" pitchFamily="34" charset="-122"/>
                            <a:cs typeface="Cambria" pitchFamily="34" charset="-120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sz="1200" b="1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[T] ≈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1" i="1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pPr>
                      <m:e>
                        <m:r>
                          <a:rPr lang="en-US" sz="1200" b="1" i="1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𝒆</m:t>
                        </m:r>
                      </m:e>
                      <m:sup>
                        <m:r>
                          <a:rPr lang="en-US" sz="1200" b="1" i="1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𝒉</m:t>
                        </m:r>
                      </m:sup>
                    </m:sSup>
                  </m:oMath>
                </a14:m>
                <a:r>
                  <a:rPr lang="en-US" sz="1200" b="1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            E₁[ T − τ ] ≈ h / D( f₁ ‖ f₀ )</a:t>
                </a:r>
                <a:endParaRPr lang="en-US" sz="1200" dirty="0"/>
              </a:p>
              <a:p>
                <a:pPr marL="0" indent="0">
                  <a:lnSpc>
                    <a:spcPct val="125000"/>
                  </a:lnSpc>
                  <a:buNone/>
                </a:pPr>
                <a:endParaRPr lang="en-US" sz="1200" dirty="0"/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sz="1200" b="1" dirty="0">
                    <a:solidFill>
                      <a:srgbClr val="D9531E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⟹   detection delay  ≈  log(ARL₀) / KL divergence</a:t>
                </a:r>
                <a:endParaRPr lang="en-US" sz="1200" dirty="0"/>
              </a:p>
              <a:p>
                <a:pPr marL="0" indent="0">
                  <a:lnSpc>
                    <a:spcPct val="125000"/>
                  </a:lnSpc>
                  <a:buNone/>
                </a:pPr>
                <a:endParaRPr lang="en-US" sz="1200" dirty="0"/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sz="1200" dirty="0">
                    <a:solidFill>
                      <a:srgbClr val="17232A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Making false alarms 10× rarer costs only ln 10 ≈ 2.3 extra units of evidence — a very cheap trade, and the backbone of every delay estimate that follows.</a:t>
                </a:r>
                <a:endParaRPr lang="en-US" sz="1200" dirty="0"/>
              </a:p>
            </p:txBody>
          </p:sp>
        </mc:Choice>
        <mc:Fallback>
          <p:sp>
            <p:nvSpPr>
              <p:cNvPr id="16" name="Text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4303601"/>
                <a:ext cx="10634472" cy="1489566"/>
              </a:xfrm>
              <a:prstGeom prst="rect">
                <a:avLst/>
              </a:prstGeom>
              <a:blipFill>
                <a:blip r:embed="rId5"/>
                <a:stretch>
                  <a:fillRect l="-860" t="-1230" r="-115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Detector II: BOCPD — When the Jump Size Is Unknown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flexible option when you cannot say in advance how big the rise will be — and it also estimates when the rise began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/ 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6223819" cy="3063240"/>
          </a:xfrm>
          <a:prstGeom prst="roundRect">
            <a:avLst>
              <a:gd name="adj" fmla="val 1791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55448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Tracking “How Long Since the Last Change” (Adams &amp; MacKay, 2007)</a:t>
            </a:r>
            <a:endParaRPr lang="en-US" sz="11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8"/>
              <p:cNvSpPr/>
              <p:nvPr/>
            </p:nvSpPr>
            <p:spPr>
              <a:xfrm>
                <a:off x="822960" y="1901952"/>
                <a:ext cx="6309360" cy="24231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35000"/>
                  </a:lnSpc>
                </a:pPr>
                <a:r>
                  <a:rPr lang="en-US" sz="125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Run length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𝑟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200" b="0" i="0" dirty="0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t</m:t>
                        </m:r>
                      </m:sub>
                    </m:sSub>
                    <m:r>
                      <a:rPr lang="en-US" sz="1200" i="1" dirty="0">
                        <a:solidFill>
                          <a:srgbClr val="17232A"/>
                        </a:solidFill>
                        <a:latin typeface="Cambria Math" panose="02040503050406030204" pitchFamily="18" charset="0"/>
                        <a:ea typeface="Cambria" pitchFamily="34" charset="-122"/>
                      </a:rPr>
                      <m:t> </m:t>
                    </m:r>
                  </m:oMath>
                </a14:m>
                <a:r>
                  <a:rPr lang="en-US" sz="125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 ∈ { 0, 1, 2, … }   : steps since the last change-point</a:t>
                </a:r>
                <a:endParaRPr lang="en-US" sz="1250" dirty="0"/>
              </a:p>
              <a:p>
                <a:pPr marL="0" indent="0">
                  <a:lnSpc>
                    <a:spcPct val="135000"/>
                  </a:lnSpc>
                  <a:buNone/>
                </a:pPr>
                <a:r>
                  <a:rPr lang="en-US" sz="125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Hazard rate     H(r) = 1 / λ           (geometric prior)</a:t>
                </a:r>
              </a:p>
              <a:p>
                <a:pPr marL="0" indent="0">
                  <a:lnSpc>
                    <a:spcPct val="135000"/>
                  </a:lnSpc>
                  <a:buNone/>
                </a:pPr>
                <a:endParaRPr lang="en-US" sz="1250" dirty="0"/>
              </a:p>
              <a:p>
                <a:pPr marL="0" indent="0">
                  <a:lnSpc>
                    <a:spcPct val="135000"/>
                  </a:lnSpc>
                  <a:buNone/>
                </a:pPr>
                <a:endParaRPr lang="en-US" sz="1250" dirty="0"/>
              </a:p>
              <a:p>
                <a:pPr marL="0" indent="0">
                  <a:lnSpc>
                    <a:spcPct val="135000"/>
                  </a:lnSpc>
                  <a:buNone/>
                </a:pPr>
                <a:endParaRPr lang="en-US" sz="1250" dirty="0"/>
              </a:p>
            </p:txBody>
          </p:sp>
        </mc:Choice>
        <mc:Fallback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901952"/>
                <a:ext cx="6309360" cy="2423160"/>
              </a:xfrm>
              <a:prstGeom prst="rect">
                <a:avLst/>
              </a:prstGeom>
              <a:blipFill>
                <a:blip r:embed="rId3"/>
                <a:stretch>
                  <a:fillRect l="-1546" t="-251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7040880" y="1371600"/>
            <a:ext cx="4599432" cy="3063240"/>
          </a:xfrm>
          <a:prstGeom prst="roundRect">
            <a:avLst>
              <a:gd name="adj" fmla="val 1791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08392" y="14447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the Two Detectors Split the Work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205473" y="1901952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CUSUM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You must tell it how big a jump to look for. Once set, it is cheap, stable, and hard to beat.</a:t>
            </a:r>
          </a:p>
          <a:p>
            <a:pPr marL="0" indent="0">
              <a:lnSpc>
                <a:spcPct val="140000"/>
              </a:lnSpc>
              <a:buNone/>
            </a:pP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BOCPD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Weighs all jump sizes at once, so nothing needs presetting — and it estimates when the change started.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endParaRPr lang="en-US" sz="1200" dirty="0">
              <a:solidFill>
                <a:srgbClr val="17232A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Both update in constant time as each new week arrives.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645152"/>
            <a:ext cx="11091672" cy="1463040"/>
          </a:xfrm>
          <a:prstGeom prst="roundRect">
            <a:avLst>
              <a:gd name="adj" fmla="val 3750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480974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Detector Has Exactly One Job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Each week a detector outputs one number: how surprising this week looks if nothing had changed. That number alone is not yet a valid alarm — we look every week, across thousands of curves. Next slide.</a:t>
            </a:r>
            <a:endParaRPr lang="en-US" sz="125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E88727F-33C6-489E-BC6B-72BE2D8ECF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620976"/>
            <a:ext cx="4009882" cy="4696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5FDF4B6-BF0B-4A54-B3B8-EB21493ADD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404103"/>
            <a:ext cx="2629090" cy="60757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Looking Every Week Does Not Break the Statistics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load-bearing piece: evidence you are allowed to check as often as you like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/ 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25880"/>
            <a:ext cx="5029200" cy="1783080"/>
          </a:xfrm>
          <a:prstGeom prst="roundRect">
            <a:avLst>
              <a:gd name="adj" fmla="val 2553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49047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Problem: Checking Again and Again Breaks p-Values</a:t>
            </a:r>
            <a:endParaRPr lang="en-US" sz="115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8"/>
              <p:cNvSpPr/>
              <p:nvPr/>
            </p:nvSpPr>
            <p:spPr>
              <a:xfrm>
                <a:off x="822960" y="1828800"/>
                <a:ext cx="5029200" cy="150876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35000"/>
                  </a:lnSpc>
                </a:pPr>
                <a:r>
                  <a:rPr lang="en-US" sz="1100" dirty="0">
                    <a:solidFill>
                      <a:srgbClr val="17232A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p-values require T fixed in advance: P(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1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n-US" sz="1100" b="0" i="1" dirty="0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𝑝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100" b="0" i="0" dirty="0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sz="1100" dirty="0">
                    <a:solidFill>
                      <a:srgbClr val="17232A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 ≤ α) ≤ α.</a:t>
                </a:r>
                <a:endParaRPr lang="en-US" sz="1100" dirty="0"/>
              </a:p>
              <a:p>
                <a:pPr marL="0" indent="0">
                  <a:lnSpc>
                    <a:spcPct val="135000"/>
                  </a:lnSpc>
                  <a:buNone/>
                </a:pPr>
                <a:r>
                  <a:rPr lang="en-US" sz="1100" dirty="0">
                    <a:solidFill>
                      <a:srgbClr val="17232A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Check 52 times a year, and even if checks are roughly independent:</a:t>
                </a:r>
                <a:endParaRPr lang="en-US" sz="1100" dirty="0"/>
              </a:p>
              <a:p>
                <a:pPr marL="0" indent="0">
                  <a:lnSpc>
                    <a:spcPct val="135000"/>
                  </a:lnSpc>
                  <a:buNone/>
                </a:pPr>
                <a:r>
                  <a:rPr lang="en-US" sz="1100" b="1" dirty="0">
                    <a:solidFill>
                      <a:srgbClr val="D9531E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1 − 0.95⁵² ≈ 93% chance of ≥ 1 false positive</a:t>
                </a:r>
                <a:endParaRPr lang="en-US" sz="1100" dirty="0"/>
              </a:p>
              <a:p>
                <a:pPr marL="0" indent="0">
                  <a:lnSpc>
                    <a:spcPct val="135000"/>
                  </a:lnSpc>
                  <a:buNone/>
                </a:pPr>
                <a:r>
                  <a:rPr lang="en-US" sz="1100" dirty="0">
                    <a:solidFill>
                      <a:srgbClr val="17232A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Across thousands of curves that means alarms every day — which is the same as no alarms at all.</a:t>
                </a:r>
                <a:endParaRPr lang="en-US" sz="1100" dirty="0"/>
              </a:p>
            </p:txBody>
          </p:sp>
        </mc:Choice>
        <mc:Fallback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828800"/>
                <a:ext cx="5029200" cy="1508760"/>
              </a:xfrm>
              <a:prstGeom prst="rect">
                <a:avLst/>
              </a:prstGeom>
              <a:blipFill>
                <a:blip r:embed="rId3"/>
                <a:stretch>
                  <a:fillRect l="-169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5852161" y="1325880"/>
            <a:ext cx="6081088" cy="1783080"/>
          </a:xfrm>
          <a:prstGeom prst="roundRect">
            <a:avLst>
              <a:gd name="adj" fmla="val 2553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65392" y="14904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e-Value: Definition and Intuition</a:t>
            </a:r>
            <a:endParaRPr lang="en-US" sz="11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5992938" y="1828800"/>
                <a:ext cx="5510214" cy="1554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35000"/>
                  </a:lnSpc>
                </a:pPr>
                <a:r>
                  <a:rPr lang="en-US" sz="13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E ≥ 0  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𝐸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7232A"/>
                            </a:solidFill>
                            <a:latin typeface="Cambria" pitchFamily="34" charset="0"/>
                            <a:ea typeface="Cambria" pitchFamily="34" charset="-122"/>
                            <a:cs typeface="Cambria" pitchFamily="34" charset="-12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sz="1400" dirty="0">
                            <a:solidFill>
                              <a:srgbClr val="17232A"/>
                            </a:solidFill>
                            <a:latin typeface="Cambria" pitchFamily="34" charset="0"/>
                            <a:ea typeface="Cambria" pitchFamily="34" charset="-122"/>
                            <a:cs typeface="Cambria" pitchFamily="34" charset="-120"/>
                          </a:rPr>
                          <m:t>₀</m:t>
                        </m:r>
                      </m:sub>
                    </m:sSub>
                  </m:oMath>
                </a14:m>
                <a:r>
                  <a:rPr lang="en-US" sz="13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[ E ] ≤ 1</a:t>
                </a:r>
                <a:endParaRPr lang="en-US" sz="1300" dirty="0"/>
              </a:p>
              <a:p>
                <a:pPr>
                  <a:lnSpc>
                    <a:spcPct val="135000"/>
                  </a:lnSpc>
                </a:pPr>
                <a:r>
                  <a:rPr lang="en-US" sz="13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Markov: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𝑃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200" dirty="0">
                            <a:solidFill>
                              <a:srgbClr val="17232A"/>
                            </a:solidFill>
                            <a:latin typeface="Cambria" pitchFamily="34" charset="0"/>
                            <a:ea typeface="Cambria" pitchFamily="34" charset="-122"/>
                            <a:cs typeface="Cambria" pitchFamily="34" charset="-120"/>
                          </a:rPr>
                          <m:t>H</m:t>
                        </m:r>
                        <m:r>
                          <m:rPr>
                            <m:nor/>
                          </m:rPr>
                          <a:rPr lang="en-US" sz="1200" dirty="0">
                            <a:solidFill>
                              <a:srgbClr val="17232A"/>
                            </a:solidFill>
                            <a:latin typeface="Cambria" pitchFamily="34" charset="0"/>
                            <a:ea typeface="Cambria" pitchFamily="34" charset="-122"/>
                            <a:cs typeface="Cambria" pitchFamily="34" charset="-120"/>
                          </a:rPr>
                          <m:t>₀</m:t>
                        </m:r>
                      </m:sub>
                    </m:sSub>
                    <m:r>
                      <a:rPr lang="en-US" sz="1200" i="1" dirty="0">
                        <a:solidFill>
                          <a:srgbClr val="17232A"/>
                        </a:solidFill>
                        <a:latin typeface="Cambria Math" panose="02040503050406030204" pitchFamily="18" charset="0"/>
                        <a:ea typeface="Cambria" pitchFamily="34" charset="-122"/>
                      </a:rPr>
                      <m:t> </m:t>
                    </m:r>
                  </m:oMath>
                </a14:m>
                <a:r>
                  <a:rPr lang="en-US" sz="13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( E ≥ 1/α ) ≤ α</a:t>
                </a:r>
                <a:endParaRPr lang="en-US" sz="1300" dirty="0"/>
              </a:p>
              <a:p>
                <a:pPr marL="0" indent="0">
                  <a:lnSpc>
                    <a:spcPct val="135000"/>
                  </a:lnSpc>
                  <a:buNone/>
                </a:pPr>
                <a:r>
                  <a:rPr lang="en-US" sz="13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Think of it as a bet against “nothing is happening.” If nothing is happening you cannot make money on average — so a large payout is real evidence.</a:t>
                </a:r>
                <a:endParaRPr lang="en-US" sz="1300" dirty="0"/>
              </a:p>
            </p:txBody>
          </p:sp>
        </mc:Choice>
        <mc:Fallback xmlns=""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2938" y="1828800"/>
                <a:ext cx="5510214" cy="1554480"/>
              </a:xfrm>
              <a:prstGeom prst="rect">
                <a:avLst/>
              </a:prstGeom>
              <a:blipFill>
                <a:blip r:embed="rId4"/>
                <a:stretch>
                  <a:fillRect l="-1770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hape 12"/>
          <p:cNvSpPr/>
          <p:nvPr/>
        </p:nvSpPr>
        <p:spPr>
          <a:xfrm>
            <a:off x="548640" y="3337560"/>
            <a:ext cx="11091672" cy="2770632"/>
          </a:xfrm>
          <a:prstGeom prst="roundRect">
            <a:avLst>
              <a:gd name="adj" fmla="val 2264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6185" y="3451091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Making It Sequential: Winnings Can Never Drift Upward on Luck Alone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4187952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Ville's inequality: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This holds at every week at once — you may look, or stop, whenever you like, even because the data looks promising. The guarantee survives.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When the growth rate is not known in advance, average over a range of rates:</a:t>
            </a:r>
            <a:endParaRPr lang="en-US" sz="1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26C2571-2B4E-416F-B5FC-F9E931FD6E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79" y="3798688"/>
            <a:ext cx="7190211" cy="5499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6B8B8A9-C4C4-4A56-B208-84787B4C1B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7420" y="4386069"/>
            <a:ext cx="1741560" cy="46788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C2A21DC-0F32-4891-9725-8950FF79A2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6240" y="5357743"/>
            <a:ext cx="2003812" cy="66421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Watching Thousands of Curves: How High to Set the Bar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With 5,000 curves under watch, some will look unusual by pure chance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/ 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5943600" cy="2514600"/>
          </a:xfrm>
          <a:prstGeom prst="roundRect">
            <a:avLst>
              <a:gd name="adj" fmla="val 2182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5544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e-BH Procedure (Wang &amp; Ramdas, 2022)</a:t>
            </a:r>
            <a:endParaRPr lang="en-US" sz="11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822960" y="1901952"/>
                <a:ext cx="5577840" cy="18745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35000"/>
                  </a:lnSpc>
                </a:pPr>
                <a:r>
                  <a:rPr lang="en-US" sz="135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Input   E₁, …,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𝐸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200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200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m</m:t>
                        </m:r>
                        <m:r>
                          <m:rPr>
                            <m:nor/>
                          </m:rPr>
                          <a:rPr lang="en-US" sz="1200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sz="135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 , sorted descending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𝐸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200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200" b="0" i="0" dirty="0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1</m:t>
                        </m:r>
                        <m:r>
                          <m:rPr>
                            <m:nor/>
                          </m:rPr>
                          <a:rPr lang="en-US" sz="1200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)</m:t>
                        </m:r>
                      </m:sub>
                    </m:sSub>
                    <m:r>
                      <a:rPr lang="en-US" sz="1200" i="1" dirty="0">
                        <a:solidFill>
                          <a:srgbClr val="17232A"/>
                        </a:solidFill>
                        <a:latin typeface="Cambria Math" panose="02040503050406030204" pitchFamily="18" charset="0"/>
                        <a:ea typeface="Cambria" pitchFamily="34" charset="-122"/>
                      </a:rPr>
                      <m:t> </m:t>
                    </m:r>
                  </m:oMath>
                </a14:m>
                <a:r>
                  <a:rPr lang="en-US" sz="135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 ≥ … ≥</a:t>
                </a:r>
                <a:r>
                  <a:rPr lang="en-US" sz="1400" dirty="0">
                    <a:solidFill>
                      <a:srgbClr val="17232A"/>
                    </a:solidFill>
                    <a:ea typeface="Cambria" pitchFamily="34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n-US" sz="1400" b="0" i="1" dirty="0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𝐸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400" b="0" i="0" dirty="0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400" b="0" i="0" dirty="0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m</m:t>
                        </m:r>
                        <m:r>
                          <m:rPr>
                            <m:nor/>
                          </m:rPr>
                          <a:rPr lang="en-US" sz="1400" b="0" i="0" dirty="0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)</m:t>
                        </m:r>
                      </m:sub>
                    </m:sSub>
                  </m:oMath>
                </a14:m>
                <a:endParaRPr lang="en-US" sz="1350" dirty="0"/>
              </a:p>
              <a:p>
                <a:pPr marL="0" indent="0">
                  <a:lnSpc>
                    <a:spcPct val="135000"/>
                  </a:lnSpc>
                  <a:buNone/>
                </a:pPr>
                <a:endParaRPr lang="en-US" sz="1350" dirty="0"/>
              </a:p>
              <a:p>
                <a:pPr>
                  <a:lnSpc>
                    <a:spcPct val="135000"/>
                  </a:lnSpc>
                </a:pPr>
                <a:r>
                  <a:rPr lang="en-US" sz="135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k* = max { k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𝐸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200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200" b="0" i="0" dirty="0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k</m:t>
                        </m:r>
                        <m:r>
                          <m:rPr>
                            <m:nor/>
                          </m:rPr>
                          <a:rPr lang="en-US" sz="1200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)</m:t>
                        </m:r>
                      </m:sub>
                    </m:sSub>
                    <m:r>
                      <a:rPr lang="en-US" sz="1200" i="1" dirty="0">
                        <a:solidFill>
                          <a:srgbClr val="17232A"/>
                        </a:solidFill>
                        <a:latin typeface="Cambria Math" panose="02040503050406030204" pitchFamily="18" charset="0"/>
                        <a:ea typeface="Cambria" pitchFamily="34" charset="-122"/>
                      </a:rPr>
                      <m:t> </m:t>
                    </m:r>
                  </m:oMath>
                </a14:m>
                <a:r>
                  <a:rPr lang="en-US" sz="135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≥ m / (α k) }</a:t>
                </a:r>
                <a:endParaRPr lang="en-US" sz="1350" dirty="0"/>
              </a:p>
              <a:p>
                <a:pPr marL="0" indent="0">
                  <a:lnSpc>
                    <a:spcPct val="135000"/>
                  </a:lnSpc>
                  <a:buNone/>
                </a:pPr>
                <a:endParaRPr lang="en-US" sz="1350" dirty="0"/>
              </a:p>
              <a:p>
                <a:pPr marL="0" indent="0">
                  <a:lnSpc>
                    <a:spcPct val="135000"/>
                  </a:lnSpc>
                  <a:buNone/>
                </a:pPr>
                <a:r>
                  <a:rPr lang="en-US" sz="135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Reject the k* largest hypotheses</a:t>
                </a:r>
                <a:endParaRPr lang="en-US" sz="1350" dirty="0"/>
              </a:p>
            </p:txBody>
          </p:sp>
        </mc:Choice>
        <mc:Fallback xmlns=""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901952"/>
                <a:ext cx="5577840" cy="1874520"/>
              </a:xfrm>
              <a:prstGeom prst="rect">
                <a:avLst/>
              </a:prstGeom>
              <a:blipFill>
                <a:blip r:embed="rId3"/>
                <a:stretch>
                  <a:fillRect l="-185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6702552" y="1371600"/>
            <a:ext cx="4937760" cy="2514600"/>
          </a:xfrm>
          <a:prstGeom prst="roundRect">
            <a:avLst>
              <a:gd name="adj" fmla="val 2182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976872" y="155448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It Works Here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976872" y="1901952"/>
            <a:ext cx="4434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Under arbitrary dependence,   FDR ≤ α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It needs no assumption about how the curves are correlated. That matters here: shares of a fixed total are automatically negatively correlated, and organisms rise and fall together.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096512"/>
            <a:ext cx="11091672" cy="2011680"/>
          </a:xfrm>
          <a:prstGeom prst="roundRect">
            <a:avLst>
              <a:gd name="adj" fmla="val 2727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4261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High the Bar Actually Goes (5,000 curves, 5% error rate)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626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Single hypothesis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90118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23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≥ 20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5358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34840" y="4626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Flagging just 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34840" y="490118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≥ 10⁵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434840" y="5358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/ α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55280" y="46268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Flagging 10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55280" y="490118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5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≥ 10⁴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955280" y="53583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/ (10α)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5669280"/>
            <a:ext cx="10332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Put together: one evidence score per curve (valid at any week) → e-BH across curves each week ⟹ the error rate holds whenever you stop.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02336"/>
            <a:ext cx="402336" cy="402336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15568" y="347472"/>
            <a:ext cx="10515600" cy="50292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Metric That Matters: How Many Days Until We Catch It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115568" y="859536"/>
            <a:ext cx="10515600" cy="310896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 AUC — AUC has no time axis, and no operator can act on 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0" y="6355080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1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/ 13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4983480" cy="1810512"/>
          </a:xfrm>
          <a:prstGeom prst="roundRect">
            <a:avLst>
              <a:gd name="adj" fmla="val 2791"/>
            </a:avLst>
          </a:prstGeom>
          <a:solidFill>
            <a:srgbClr val="F5F9FA"/>
          </a:solidFill>
          <a:ln w="12700">
            <a:solidFill>
              <a:srgbClr val="F5F9FA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5361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Two Numbers That Define Performance</a:t>
            </a:r>
            <a:endParaRPr lang="en-US" sz="11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822960" y="1865376"/>
                <a:ext cx="4572000" cy="1371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35000"/>
                  </a:lnSpc>
                </a:pPr>
                <a:r>
                  <a:rPr lang="en-US" sz="125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ARL₀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𝐸</m:t>
                        </m:r>
                      </m:e>
                      <m:sub>
                        <m:r>
                          <m:rPr>
                            <m:nor/>
                          </m:rPr>
                          <a:rPr lang="en-US" sz="1200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1200" dirty="0">
                            <a:solidFill>
                              <a:srgbClr val="17232A"/>
                            </a:solidFill>
                            <a:latin typeface="Cambria" pitchFamily="34" charset="0"/>
                            <a:ea typeface="Cambria" pitchFamily="34" charset="-122"/>
                            <a:cs typeface="Cambria" pitchFamily="34" charset="-120"/>
                          </a:rPr>
                          <m:t>∞</m:t>
                        </m:r>
                        <m:r>
                          <m:rPr>
                            <m:nor/>
                          </m:rPr>
                          <a:rPr lang="en-US" sz="1200" dirty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)</m:t>
                        </m:r>
                      </m:sub>
                    </m:sSub>
                    <m:r>
                      <a:rPr lang="en-US" sz="1200" i="1" dirty="0">
                        <a:solidFill>
                          <a:srgbClr val="17232A"/>
                        </a:solidFill>
                        <a:latin typeface="Cambria Math" panose="02040503050406030204" pitchFamily="18" charset="0"/>
                        <a:ea typeface="Cambria" pitchFamily="34" charset="-122"/>
                      </a:rPr>
                      <m:t> </m:t>
                    </m:r>
                  </m:oMath>
                </a14:m>
                <a:r>
                  <a:rPr lang="en-US" sz="125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[ T ]        mean time between false alarms</a:t>
                </a:r>
                <a:endParaRPr lang="en-US" sz="1250" dirty="0"/>
              </a:p>
              <a:p>
                <a:pPr marL="0" indent="0">
                  <a:lnSpc>
                    <a:spcPct val="135000"/>
                  </a:lnSpc>
                  <a:buNone/>
                </a:pPr>
                <a:r>
                  <a:rPr lang="en-US" sz="125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ARL₁ = E[ (T − τ)⁺ | T &gt; τ ]    detection delay</a:t>
                </a:r>
                <a:endParaRPr lang="en-US" sz="1250" dirty="0"/>
              </a:p>
              <a:p>
                <a:pPr marL="0" indent="0">
                  <a:lnSpc>
                    <a:spcPct val="135000"/>
                  </a:lnSpc>
                  <a:buNone/>
                </a:pPr>
                <a:endParaRPr lang="en-US" sz="1250" dirty="0"/>
              </a:p>
              <a:p>
                <a:pPr marL="0" indent="0">
                  <a:lnSpc>
                    <a:spcPct val="135000"/>
                  </a:lnSpc>
                  <a:buNone/>
                </a:pPr>
                <a:r>
                  <a:rPr lang="en-US" sz="125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How we design: fix the false-alarm rate, then compare detection delays</a:t>
                </a:r>
                <a:endParaRPr lang="en-US" sz="1250" dirty="0"/>
              </a:p>
            </p:txBody>
          </p:sp>
        </mc:Choice>
        <mc:Fallback xmlns="">
          <p:sp>
            <p:nvSpPr>
              <p:cNvPr id="10" name="Text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1865376"/>
                <a:ext cx="4572000" cy="1371600"/>
              </a:xfrm>
              <a:prstGeom prst="rect">
                <a:avLst/>
              </a:prstGeom>
              <a:blipFill>
                <a:blip r:embed="rId3"/>
                <a:stretch>
                  <a:fillRect l="-213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5742432" y="1371600"/>
            <a:ext cx="5897880" cy="1810512"/>
          </a:xfrm>
          <a:prstGeom prst="roundRect">
            <a:avLst>
              <a:gd name="adj" fmla="val 2791"/>
            </a:avLst>
          </a:prstGeom>
          <a:solidFill>
            <a:srgbClr val="FBE9E0"/>
          </a:solidFill>
          <a:ln w="12700">
            <a:solidFill>
              <a:srgbClr val="FBE9E0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016752" y="153619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D953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One Sentence an Operator Actually Needs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16752" y="1883664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1723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 one false alarm per site per year, for a signal with a 3.5-day doubling time: median detection delay X days, 90th percentile Y days.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016752" y="281635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717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AUC cannot be stated this way.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28416"/>
            <a:ext cx="11091672" cy="2779776"/>
          </a:xfrm>
          <a:prstGeom prst="roundRect">
            <a:avLst>
              <a:gd name="adj" fmla="val 2143"/>
            </a:avLst>
          </a:prstGeom>
          <a:solidFill>
            <a:srgbClr val="EAF2F5"/>
          </a:solidFill>
          <a:ln w="12700">
            <a:solidFill>
              <a:srgbClr val="EAF2F5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342900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60" dirty="0">
                <a:solidFill>
                  <a:srgbClr val="1C729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Watching 5,000 Curves Costs Almost No Extra Delay</a:t>
            </a:r>
            <a:endParaRPr lang="en-US" sz="11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 15"/>
              <p:cNvSpPr/>
              <p:nvPr/>
            </p:nvSpPr>
            <p:spPr>
              <a:xfrm>
                <a:off x="868680" y="3831336"/>
                <a:ext cx="10515600" cy="213055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400" dirty="0">
                    <a:solidFill>
                      <a:srgbClr val="17232A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Alarm condition:</a:t>
                </a:r>
              </a:p>
              <a:p>
                <a:pPr marL="0" indent="0">
                  <a:lnSpc>
                    <a:spcPct val="130000"/>
                  </a:lnSpc>
                  <a:buNone/>
                </a:pPr>
                <a:endParaRPr lang="en-US" sz="1400" dirty="0">
                  <a:solidFill>
                    <a:srgbClr val="17232A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endParaRPr>
              </a:p>
              <a:p>
                <a:pPr marL="0" indent="0">
                  <a:lnSpc>
                    <a:spcPct val="130000"/>
                  </a:lnSpc>
                  <a:buNone/>
                </a:pPr>
                <a:endParaRPr lang="en-US" sz="1400" dirty="0"/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500" b="1" dirty="0">
                    <a:solidFill>
                      <a:srgbClr val="D9531E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The LHS grows exponentially in d, giving    d*  ≈  (1/r) · ln [ ln(m/α) ·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500" b="1" i="1" smtClean="0">
                            <a:solidFill>
                              <a:srgbClr val="D9531E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</m:ctrlPr>
                      </m:sSupPr>
                      <m:e>
                        <m:r>
                          <a:rPr lang="en-US" sz="1500" b="1" i="1" smtClean="0">
                            <a:solidFill>
                              <a:srgbClr val="D9531E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𝒆</m:t>
                        </m:r>
                      </m:e>
                      <m:sup>
                        <m:r>
                          <a:rPr lang="en-US" sz="1500" b="1" i="1" smtClean="0">
                            <a:solidFill>
                              <a:srgbClr val="D9531E"/>
                            </a:solidFill>
                            <a:latin typeface="Cambria Math" panose="02040503050406030204" pitchFamily="18" charset="0"/>
                            <a:ea typeface="Cambria" pitchFamily="34" charset="-122"/>
                          </a:rPr>
                          <m:t>𝒓</m:t>
                        </m:r>
                      </m:sup>
                    </m:sSup>
                  </m:oMath>
                </a14:m>
                <a:r>
                  <a:rPr lang="en-US" sz="1500" b="1" dirty="0">
                    <a:solidFill>
                      <a:srgbClr val="D9531E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− 1) / μ₀ ]</a:t>
                </a:r>
                <a:endParaRPr lang="en-US" sz="1400" dirty="0"/>
              </a:p>
              <a:p>
                <a:pPr marL="0" indent="0">
                  <a:lnSpc>
                    <a:spcPct val="130000"/>
                  </a:lnSpc>
                  <a:buNone/>
                </a:pPr>
                <a:endParaRPr lang="en-US" sz="1400" dirty="0"/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250" dirty="0">
                    <a:solidFill>
                      <a:srgbClr val="17232A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Delay scales with doubling time (d* ∝ 1/r 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50" i="1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Microsoft YaHei" pitchFamily="34" charset="-122"/>
                          </a:rPr>
                        </m:ctrlPr>
                      </m:sSubPr>
                      <m:e>
                        <m:r>
                          <a:rPr lang="en-US" sz="1250" b="0" i="1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Microsoft YaHei" pitchFamily="34" charset="-122"/>
                          </a:rPr>
                          <m:t>𝑇</m:t>
                        </m:r>
                      </m:e>
                      <m:sub>
                        <m:r>
                          <a:rPr lang="en-US" sz="1250" b="0" i="1" smtClean="0">
                            <a:solidFill>
                              <a:srgbClr val="17232A"/>
                            </a:solidFill>
                            <a:latin typeface="Cambria Math" panose="02040503050406030204" pitchFamily="18" charset="0"/>
                            <a:ea typeface="Microsoft YaHei" pitchFamily="34" charset="-122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1250" dirty="0">
                    <a:solidFill>
                      <a:srgbClr val="17232A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), while the multiplicity burden m enters delay only via its </a:t>
                </a:r>
                <a:r>
                  <a:rPr lang="en-US" sz="1250" b="1" dirty="0">
                    <a:solidFill>
                      <a:srgbClr val="D9531E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log of a log</a:t>
                </a:r>
                <a:r>
                  <a:rPr lang="en-US" sz="1250" dirty="0">
                    <a:solidFill>
                      <a:srgbClr val="17232A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.</a:t>
                </a:r>
                <a:endParaRPr lang="en-US" sz="1400" dirty="0"/>
              </a:p>
              <a:p>
                <a:pPr marL="0" indent="0">
                  <a:lnSpc>
                    <a:spcPct val="130000"/>
                  </a:lnSpc>
                  <a:buNone/>
                </a:pPr>
                <a:r>
                  <a:rPr lang="en-US" sz="1250" dirty="0">
                    <a:solidFill>
                      <a:srgbClr val="17232A"/>
                    </a:solidFill>
                    <a:latin typeface="Microsoft YaHei" pitchFamily="34" charset="0"/>
                    <a:ea typeface="Microsoft YaHei" pitchFamily="34" charset="-122"/>
                    <a:cs typeface="Microsoft YaHei" pitchFamily="34" charset="-120"/>
                  </a:rPr>
                  <a:t>Going from 50 curves under watch to 5,000 costs less than a single doubling period of extra delay.</a:t>
                </a:r>
                <a:endParaRPr lang="en-US" sz="1400" dirty="0"/>
              </a:p>
            </p:txBody>
          </p:sp>
        </mc:Choice>
        <mc:Fallback xmlns="">
          <p:sp>
            <p:nvSpPr>
              <p:cNvPr id="17" name="Text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3831336"/>
                <a:ext cx="10515600" cy="2130552"/>
              </a:xfrm>
              <a:prstGeom prst="rect">
                <a:avLst/>
              </a:prstGeom>
              <a:blipFill>
                <a:blip r:embed="rId4"/>
                <a:stretch>
                  <a:fillRect l="-1101" t="-1433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Picture 17">
            <a:extLst>
              <a:ext uri="{FF2B5EF4-FFF2-40B4-BE49-F238E27FC236}">
                <a16:creationId xmlns:a16="http://schemas.microsoft.com/office/drawing/2014/main" id="{8E1F94FB-71ED-4A4C-840A-E6CF612BEE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4769" y="4086850"/>
            <a:ext cx="4282942" cy="61368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14169" y="250847"/>
            <a:ext cx="10515600" cy="68580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 Layers, One Closing Sentence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302527"/>
            <a:ext cx="10561320" cy="1005840"/>
          </a:xfrm>
          <a:prstGeom prst="roundRect">
            <a:avLst>
              <a:gd name="adj" fmla="val 5455"/>
            </a:avLst>
          </a:prstGeom>
          <a:noFill/>
          <a:ln w="12700">
            <a:solidFill>
              <a:srgbClr val="14505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43000" y="1412255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What’s Normal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143000" y="1805447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Observation model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520440" y="1439687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Count models plus batch, flow and PMMoV corrections and CLR log-ratios — together they say how much week-to-week wobble is ordinary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536967"/>
            <a:ext cx="10561320" cy="1005840"/>
          </a:xfrm>
          <a:prstGeom prst="roundRect">
            <a:avLst>
              <a:gd name="adj" fmla="val 5455"/>
            </a:avLst>
          </a:prstGeom>
          <a:noFill/>
          <a:ln w="12700">
            <a:solidFill>
              <a:srgbClr val="14505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43000" y="2646695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What’s Enough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43000" y="3039887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Sequential testing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2674127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CUSUM and BOCPD pile up the evidence; e-processes make it legitimate to look every week; e-BH keeps false discoveries in check across thousands of curves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771407"/>
            <a:ext cx="10561320" cy="1005840"/>
          </a:xfrm>
          <a:prstGeom prst="roundRect">
            <a:avLst>
              <a:gd name="adj" fmla="val 5455"/>
            </a:avLst>
          </a:prstGeom>
          <a:noFill/>
          <a:ln w="12700">
            <a:solidFill>
              <a:srgbClr val="14505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43000" y="3881135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Fast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143000" y="4274327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Primary metric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20440" y="3908567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Days of detection delay at a fixed false-alarm rate, plus growth rate and doubling time with intervals that stay valid at any time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097287"/>
            <a:ext cx="10561320" cy="640080"/>
          </a:xfrm>
          <a:prstGeom prst="rect">
            <a:avLst/>
          </a:prstGeom>
          <a:noFill/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i="1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whole principle: among thousands of curves, find the one that has started to double — everything else is math answering “how much rise is enough to call it.”</a:t>
            </a:r>
            <a:endParaRPr lang="en-US" sz="1600" dirty="0"/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1EBF5CAA-042B-41EC-9FF9-6B8815396DBB}"/>
              </a:ext>
            </a:extLst>
          </p:cNvPr>
          <p:cNvSpPr/>
          <p:nvPr/>
        </p:nvSpPr>
        <p:spPr>
          <a:xfrm>
            <a:off x="548640" y="40233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79AA27-C3D8-4A0C-B398-95C96D7F1162}"/>
              </a:ext>
            </a:extLst>
          </p:cNvPr>
          <p:cNvSpPr/>
          <p:nvPr/>
        </p:nvSpPr>
        <p:spPr>
          <a:xfrm>
            <a:off x="513534" y="409081"/>
            <a:ext cx="4571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1633</TotalTime>
  <Words>2874</Words>
  <Application>Microsoft Office PowerPoint</Application>
  <PresentationFormat>Widescreen</PresentationFormat>
  <Paragraphs>269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Microsoft YaHei</vt:lpstr>
      <vt:lpstr>Arial</vt:lpstr>
      <vt:lpstr>Calibri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Sequential Change-Point Detection in MGS Time Series — Principles and Mathematical Foundations</dc:title>
  <dc:subject>PptxGenJS Presentation</dc:subject>
  <dc:creator>Sihua Peng</dc:creator>
  <cp:lastModifiedBy>Sihua Peng</cp:lastModifiedBy>
  <cp:revision>53</cp:revision>
  <dcterms:created xsi:type="dcterms:W3CDTF">2026-07-27T00:52:56Z</dcterms:created>
  <dcterms:modified xsi:type="dcterms:W3CDTF">2026-07-31T19:11:17Z</dcterms:modified>
</cp:coreProperties>
</file>