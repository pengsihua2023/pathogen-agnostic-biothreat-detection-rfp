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a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1.9</c:v>
                </c:pt>
                <c:pt idx="2">
                  <c:v>2.3</c:v>
                </c:pt>
                <c:pt idx="3">
                  <c:v>2</c:v>
                </c:pt>
                <c:pt idx="4">
                  <c:v>2.2</c:v>
                </c:pt>
                <c:pt idx="5">
                  <c:v>1.8</c:v>
                </c:pt>
                <c:pt idx="6">
                  <c:v>2.1</c:v>
                </c:pt>
                <c:pt idx="7">
                  <c:v>2.4</c:v>
                </c:pt>
                <c:pt idx="8">
                  <c:v>2</c:v>
                </c:pt>
                <c:pt idx="9">
                  <c:v>2.2</c:v>
                </c:pt>
                <c:pt idx="10">
                  <c:v>1.9</c:v>
                </c:pt>
                <c:pt idx="11">
                  <c:v>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b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1.6</c:v>
                </c:pt>
                <c:pt idx="1">
                  <c:v>1.8</c:v>
                </c:pt>
                <c:pt idx="2">
                  <c:v>1.5</c:v>
                </c:pt>
                <c:pt idx="3">
                  <c:v>1.9</c:v>
                </c:pt>
                <c:pt idx="4">
                  <c:v>1.6</c:v>
                </c:pt>
                <c:pt idx="5">
                  <c:v>1.7</c:v>
                </c:pt>
                <c:pt idx="6">
                  <c:v>1.9</c:v>
                </c:pt>
                <c:pt idx="7">
                  <c:v>1.5</c:v>
                </c:pt>
                <c:pt idx="8">
                  <c:v>1.8</c:v>
                </c:pt>
                <c:pt idx="9">
                  <c:v>1.6</c:v>
                </c:pt>
                <c:pt idx="10">
                  <c:v>1.9</c:v>
                </c:pt>
                <c:pt idx="11">
                  <c:v>1.7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 c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2.7</c:v>
                </c:pt>
                <c:pt idx="1">
                  <c:v>2.4</c:v>
                </c:pt>
                <c:pt idx="2">
                  <c:v>2.8</c:v>
                </c:pt>
                <c:pt idx="3">
                  <c:v>2.5</c:v>
                </c:pt>
                <c:pt idx="4">
                  <c:v>2.9</c:v>
                </c:pt>
                <c:pt idx="5">
                  <c:v>2.5</c:v>
                </c:pt>
                <c:pt idx="6">
                  <c:v>2.7</c:v>
                </c:pt>
                <c:pt idx="7">
                  <c:v>2.4</c:v>
                </c:pt>
                <c:pt idx="8">
                  <c:v>2.8</c:v>
                </c:pt>
                <c:pt idx="9">
                  <c:v>2.5</c:v>
                </c:pt>
                <c:pt idx="10">
                  <c:v>2.6</c:v>
                </c:pt>
                <c:pt idx="11">
                  <c:v>2.9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Cluster d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1.2</c:v>
                </c:pt>
                <c:pt idx="1">
                  <c:v>1.4</c:v>
                </c:pt>
                <c:pt idx="2">
                  <c:v>1.1</c:v>
                </c:pt>
                <c:pt idx="3">
                  <c:v>1.3</c:v>
                </c:pt>
                <c:pt idx="4">
                  <c:v>1.5</c:v>
                </c:pt>
                <c:pt idx="5">
                  <c:v>1.2</c:v>
                </c:pt>
                <c:pt idx="6">
                  <c:v>1.4</c:v>
                </c:pt>
                <c:pt idx="7">
                  <c:v>1.1</c:v>
                </c:pt>
                <c:pt idx="8">
                  <c:v>1.3</c:v>
                </c:pt>
                <c:pt idx="9">
                  <c:v>1.5</c:v>
                </c:pt>
                <c:pt idx="10">
                  <c:v>1.2</c:v>
                </c:pt>
                <c:pt idx="11">
                  <c:v>1.4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Cluster e</c:v>
                </c:pt>
              </c:strCache>
            </c:strRef>
          </c:tx>
          <c:spPr>
            <a:solidFill>
              <a:srgbClr val="C3D4DB"/>
            </a:solidFill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DB"/>
              </a:solidFill>
              <a:ln w="9525" cap="flat">
                <a:solidFill>
                  <a:srgbClr val="C3D4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3</c:v>
                </c:pt>
                <c:pt idx="1">
                  <c:v>3.2</c:v>
                </c:pt>
                <c:pt idx="2">
                  <c:v>2.9</c:v>
                </c:pt>
                <c:pt idx="3">
                  <c:v>3.1</c:v>
                </c:pt>
                <c:pt idx="4">
                  <c:v>2.8</c:v>
                </c:pt>
                <c:pt idx="5">
                  <c:v>3.1</c:v>
                </c:pt>
                <c:pt idx="6">
                  <c:v>2.9</c:v>
                </c:pt>
                <c:pt idx="7">
                  <c:v>3.2</c:v>
                </c:pt>
                <c:pt idx="8">
                  <c:v>3</c:v>
                </c:pt>
                <c:pt idx="9">
                  <c:v>2.8</c:v>
                </c:pt>
                <c:pt idx="10">
                  <c:v>3.1</c:v>
                </c:pt>
                <c:pt idx="11">
                  <c:v>2.9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Target cluster</c:v>
                </c:pt>
              </c:strCache>
            </c:strRef>
          </c:tx>
          <c:spPr>
            <a:solidFill>
              <a:srgbClr val="D9531E"/>
            </a:solidFill>
            <a:ln w="25400" cap="flat">
              <a:solidFill>
                <a:srgbClr val="D953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31E"/>
              </a:solidFill>
              <a:ln w="9525" cap="flat">
                <a:solidFill>
                  <a:srgbClr val="D953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2</c:v>
                </c:pt>
                <c:pt idx="1">
                  <c:v>1.8</c:v>
                </c:pt>
                <c:pt idx="2">
                  <c:v>2.2</c:v>
                </c:pt>
                <c:pt idx="3">
                  <c:v>1.9</c:v>
                </c:pt>
                <c:pt idx="4">
                  <c:v>2.1</c:v>
                </c:pt>
                <c:pt idx="5">
                  <c:v>2.5</c:v>
                </c:pt>
                <c:pt idx="6">
                  <c:v>3.6</c:v>
                </c:pt>
                <c:pt idx="7">
                  <c:v>4.7</c:v>
                </c:pt>
                <c:pt idx="8">
                  <c:v>5.8</c:v>
                </c:pt>
                <c:pt idx="9">
                  <c:v>6.9</c:v>
                </c:pt>
                <c:pt idx="10">
                  <c:v>8</c:v>
                </c:pt>
                <c:pt idx="11">
                  <c:v>9.1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1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7178"/>
                    </a:solidFill>
                    <a:latin typeface="Arial"/>
                  </a:rPr>
                  <a:t>Week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2EA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1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7178"/>
                    </a:solidFill>
                    <a:latin typeface="Arial"/>
                  </a:rPr>
                  <a:t>log₂ abundance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9FA"/>
        </a:solidFill>
        <a:ln>
          <a:noFill/>
        </a:ln>
        <a:effectLst/>
      </c:spPr>
    </c:plotArea>
    <c:plotVisOnly val="1"/>
    <c:dispBlanksAs val="span"/>
  </c:chart>
  <c:spPr>
    <a:solidFill>
      <a:srgbClr val="F5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reframe detection as a sequential change-point problem rather than a per-sample classification problem. The whole talk revolves around one question — what counts as having ‘begun to rise.’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shift: what's being detected is not identity but dynamics. r_i &gt; 0 is the entire definition of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 stability is the most underrated operational risk: reference-database updates and reassembly both cause cluster drift. Needs a fixed-clustering + anchoring strategy, plus a cold-start plan for new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trajectory, a batch effect looks identical to an outbreak's onset — the number-one source of false alarms in real-world surveillance.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Ignoring compositionality creates both false alarms and false reassurance. The latter is more dangerous — a missed detection doesn't announce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reasons for taking logs: exponential growth becomes a line whose slope is the growth rate, and it stabilizes the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D(f1||f0) is exactly ‘how much evidence accumulates per observation.’ Stronger signal and lower noise mean larger KL divergence and shorter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layering: the detector extracts signal; the next layer guarantees validity. The two combine freely.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cost: anytime validity is insurance, and the premium is power. Versus a fixed-sample-size test, the equivalent sample size grows by roughly 1.5–2× (from the √(2 log log t) term in the law of the iterated logarithm). We report this cost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hypothesis needs only 20; with multiplicity it takes 100,000 — that span is the cost of multiplicity, and it becomes extra detection delay. The next slide shows the cost is actually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mathematical basis for the whole proposal's scalability, and the point reviewers will most likely probe — recommend giving concrete X and Y values from real data in the EOI.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observation model defines normal, sequential testing defines enough, and the metric measures how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Pathogen-Agnostic Biosurveillance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MGS Change-Point Detection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Principles and Mathematical Foundations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86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Among thousands of abundance trajectories, find the one that has begun exponential growth — and flag it as early as possible, under a guaranteed false-alarm rate.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591056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847088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35915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15184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871216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3127248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63931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895344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151376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7408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4956048"/>
            <a:ext cx="201168" cy="201168"/>
          </a:xfrm>
          <a:prstGeom prst="ellipse">
            <a:avLst/>
          </a:prstGeom>
          <a:solidFill>
            <a:srgbClr val="D9531E"/>
          </a:solidFill>
          <a:ln/>
        </p:spPr>
      </p:sp>
      <p:sp>
        <p:nvSpPr>
          <p:cNvPr id="23" name="Shape 21"/>
          <p:cNvSpPr/>
          <p:nvPr/>
        </p:nvSpPr>
        <p:spPr>
          <a:xfrm>
            <a:off x="491947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5175504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5431536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7568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6199632" y="50292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Thousands of sequence clusters · one beginning to grow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Classification to Change-Point Detection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 “is this a pathogen?” with “has this trajectory changed?”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Conventional Framework: Per-Sample Classification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one sample → output a “contains pathogen X” score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Assumes samples are i.i.d.; each judged independently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Evaluated via AUC — no time axis, and labels are required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371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 Framework: Parallel Sequential Change-Point 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9672" y="1920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cluster = one count trajectory evolving over time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Asks whether the generating mechanism changed at some point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Poses this question for m ≈ 10³–10⁴ clusters at once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1091672" cy="2651760"/>
          </a:xfrm>
          <a:prstGeom prst="roundRect">
            <a:avLst>
              <a:gd name="adj" fmla="val 2069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39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Formalization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3986784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each cluster i = 1, …, m, observe counts  Y_i(1), Y_i(2), …, Y_i(t)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 :  generating parameter constant, θ_i(t) ≡ θ_i          (nothing happening)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:  ∃ change-point τ_i such that   log λ_i(t) = log λ_i + r_i · (t − τ_i)⁺ ,  r_i &gt; 0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under  P(false alarm) ≤ α , minimize detection delay   E[(T − τ_i)⁺]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One: Turning Sequencing Data Into Trajectories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reference-database matching anywhere — this is exactly what makes it pathogen-agnostic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Sequencing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Wastewater sampling → metagenomic sequencing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10⁷ reads per run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87368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25112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Unsupervised Clustering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9432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k-mer (k = 31) or contig clustering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group gets an ID — no need to know what it 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1584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Normalized Counts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5904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Y_i(t) = read count falling into cluster 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Adjusted for depth, batch, dilution, recovery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13632"/>
            <a:ext cx="6766560" cy="2194560"/>
          </a:xfrm>
          <a:prstGeom prst="roundRect">
            <a:avLst>
              <a:gd name="adj" fmla="val 25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965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443984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Y_i(t):  read count of cluster i in week t ,   i = 1, …, m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N(t) = Σ_i Y_i(t)    (library depth that week)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π_i(t) = Y_i(t) / N(t)   (relative abundance, compositional data)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16952" y="3913632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4096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One Hard Constraint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891272" y="4443984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 IDs must be stable across time: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 week's #4417 and next week's #4417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be the same biological entity.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Otherwise the “time series” simply doesn't exist.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Model I: Count Distributions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has exactly one job — define what counts as normal fluctuation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532120" cy="2788920"/>
          </a:xfrm>
          <a:prstGeom prst="roundRect">
            <a:avLst>
              <a:gd name="adj" fmla="val 19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Negative Binomial: Over-Dispersion Within a Cluster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5120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Y_i(t) ~ NB( μ_i(t), φ_i 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E[Y] = μ ,   Var[Y] = μ + μ² / 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μ_i(t) = log s(t) + x(t)^T β_i + η_i(t)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1072" y="137160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Dirichlet-Multinomial: Joint Model Across the Vector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65392" y="1883664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(Y₁, …, Y_m)(t) ~ DM( N(t), α(t) 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π_i = α_i / α₀ ,   α₀ = Σ_j α_j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Var[Y_i] = N π_i(1 − π_i) · (N + α₀)/(1 + α₀)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11091672" cy="1737360"/>
          </a:xfrm>
          <a:prstGeom prst="roundRect">
            <a:avLst>
              <a:gd name="adj" fmla="val 3158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53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Each Term Absorbs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882896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s(t)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effective library size  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x(t)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batch/run effects, PMMoV &amp; crAssphage load, flow &amp; dilution, extraction recovery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η_i(t)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latent log-abundance under test — the only term change-point detection targets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φ, the over-dispersion factor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sets the scale for “is this jump abnormal”; Poisson underestimates noise, causing daily false alarms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Model II: Compositionality and Log-Ratios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Relative abundance can fall while absolute load is rising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83480" cy="2423160"/>
          </a:xfrm>
          <a:prstGeom prst="roundRect">
            <a:avLst>
              <a:gd name="adj" fmla="val 2264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Compositional Trap: A Numerical Example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83664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absolute load  c_i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 →  200        ×2  ↑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total  Σ_j c_j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 →  40,000        ×4  ↑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relative abundance  π_i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  →  0.5%        halved  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42432" y="1371600"/>
            <a:ext cx="5897880" cy="2423160"/>
          </a:xfrm>
          <a:prstGeom prst="roundRect">
            <a:avLst>
              <a:gd name="adj" fmla="val 226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Centered Log-Ratio Transform (CLR)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1883664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clr(π)_i = log π_i − (1/m) Σ_j log π_j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= log ( π_i / g(π) ) ,   g(π) = (Π_j π_j)^(1/m)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invariance: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clr(π)_i = log c_i − (1/m) Σ_j log c_j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11091672" cy="2103120"/>
          </a:xfrm>
          <a:prstGeom prst="roundRect">
            <a:avLst>
              <a:gd name="adj" fmla="val 260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87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 Ways Out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517136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Set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 After differencing,  Δclr_i(t) = Δlog c_i(t) − Δ(mean log load). If the reference set is stable, the CLR difference equals the log change in absolute load.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Absolute Anchoring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 log ĉ_i(t) = log π_i(t) + log Ĉ(t), where Ĉ(t) is estimated via spike-in standards, ddPCR, or PMMoV × flow.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i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systematic comparison of normalization strategies is itself an open question the RFP names explicitly — a deliverable, not overhead.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Mathematical Signature of a Signal: Exponential Growth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Detecting behavior, not identity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029200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It Has to Be Exponential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epidemic:  I(t) ≈ I₀ · e^(r t) ,   r = β − γ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Shedding convolution:  c_i(t) ∝ ∫ I(t − u) · s(u) du = κ · I(t)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(convolution doesn't change the exponential rate r)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⟹   log c_i(t) = constant + r · 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Doubling time   T_d = ln 2 / 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88152" y="1371600"/>
            <a:ext cx="5852160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a log scale, a change-point = slope switching from 0 to r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035040" y="192024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4645152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86460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actually doubles steadily for weeks on end?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Microbiome noise — wobbles around baseline, no.  Seasonality — rises and falls periodically, no.  A single contamination event — jumps once and plateaus, no.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spreading outbreak — yes. And almost nothing else does. That's why the detector doesn't need to know what it's looking at.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Detector I: CUSUM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Cumulative log-likelihood ratio — minimax-optimal when the change magnitude is known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943600" cy="2606040"/>
          </a:xfrm>
          <a:prstGeom prst="roundRect">
            <a:avLst>
              <a:gd name="adj" fmla="val 2105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Page's Recursion (1954)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5577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S_i(0) = 0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S_i(t) = max { 0 ,  S_i(t−1) + Λ_i(t) }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Λ_i(t) = log [ f₁( y_i(t) ) / f₀( y_i(t) ) ]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time   T = inf { t :  S_i(t) ≥ h 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02552" y="1371600"/>
            <a:ext cx="4937760" cy="2606040"/>
          </a:xfrm>
          <a:prstGeom prst="roundRect">
            <a:avLst>
              <a:gd name="adj" fmla="val 2105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Lorden Optimality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76872" y="1901952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constraint   E_∞[T] ≥ γ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sup_τ  ess sup  E[ (T − τ)⁺ | F_τ ]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CUSUM attains this lower bound (asymptotically)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1091672" cy="1920240"/>
          </a:xfrm>
          <a:prstGeom prst="roundRect">
            <a:avLst>
              <a:gd name="adj" fmla="val 285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70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Core Scaling Law: Trading Off False Alarms and Delay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681728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E_∞[T] ≈ e^h            E₁[ T − τ ] ≈ h / D( f₁ ‖ f₀ 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⟹   detection delay  ≈  log(ARL₀) / KL divergence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Stretching the false-alarm interval 10× costs only ln 10 ≈ 2.3 extra “KL units” — the backbone of every delay estimate that follows.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Detector II: Bayesian Online Change-Point Detection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flexible version when the magnitude is unknown — and it yields a posterior over the change-point location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675120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Run-Length Recursion (Adams &amp; MacKay, 2007)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6309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length   r_t ∈ { 0, 1, 2, … }   : steps since the last change-point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rate     H(r) = 1 / λ           (geometric prior)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 r_t , y_1:t ) =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Σ_{r_{t−1}}  P( r_t | r_{t−1} ) · P( y_t | r_{t−1}, y^(r) ) · P( r_{t−1}, y_1:t−1 )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Growth: r_t = r_{t−1} + 1, prob. 1 − H        Reset: r_t = 0, prob. 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34072" y="1371600"/>
            <a:ext cx="4206240" cy="3063240"/>
          </a:xfrm>
          <a:prstGeom prst="roundRect">
            <a:avLst>
              <a:gd name="adj" fmla="val 1791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08392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Division of Labor with CUSUM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08392" y="1901952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CUSUM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Needs a preset magnitude; optimal once set — cheap, stable, the workhorse for QC.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BOCPD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Marginalizes over the magnitude — no presetting needed — and gives a posterior over the change-point location itself.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Both are O(1) online recursions.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8097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Detector Has Exactly One Job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Output, each week, a measure of “how surprising this week is under ‘no change’.” This alone isn't yet valid inference — we look every week, across thousands of series at once. Next slide's problem.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Core of Validity: e-Values and Test Martingales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load-bearing structure — what makes “looking every week” statistically legitimate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90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Problem: Repeated Peeking Destroys p-Values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p-values require T fixed in advance: P(p_T ≤ α) ≤ α.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Looking 52 times a year, if roughly independent: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1 − 0.95⁵² ≈ 93% chance of ≥ 1 false positive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Across thousands of curves: daily alarms, i.e. none.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91072" y="13258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4904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e-Value: Definition and Intuition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65392" y="18288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0   and   E_{H₀}[ E ] ≤ 1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Markov:  P_{H₀}( E ≥ 1/α ) ≤ α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Intuition: a payout for betting against H₀. You earn nothing when H₀ is true.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1091672" cy="2423160"/>
          </a:xfrm>
          <a:prstGeom prst="roundRect">
            <a:avLst>
              <a:gd name="adj" fmla="val 2264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58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Sequentializing: the Wealth Process Is a Nonnegative Supermartingale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E_t = Π_{s ≤ t} κ_s( y_s ), where E_{H₀}[ κ_s | F_{s−1} ] ≤ 1 ⟹ (E_t) is a nonneg. supermartingale under H₀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Ville's inequality:    P_{H₀} ( ∃ t ≥ 1 :  E_t ≥ 1/α )  ≤  α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Holds simultaneously at every t — look or stop whenever you like, even because the data looks good: validity still holds.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the growth rate r is unknown, use a mixture martingale: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E_t = ∫ Π_s [ f_r(y_s) / f₀(y_s) ] dπ(r)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Multiplicity: e-BH and the Scale of the Threshold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high should the bar go when watching thousands of curves at once?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943600" cy="2514600"/>
          </a:xfrm>
          <a:prstGeom prst="roundRect">
            <a:avLst>
              <a:gd name="adj" fmla="val 2182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e-BH Procedure (Wang &amp; Ramdas, 2022)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5577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  E₁, …, E_m , sorted descending   E_(1) ≥ … ≥ E_(m)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k* = max { k :  E_(k) ≥ m / (α k) }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the k* largest hypotheses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02552" y="1371600"/>
            <a:ext cx="4937760" cy="2514600"/>
          </a:xfrm>
          <a:prstGeom prst="roundRect">
            <a:avLst>
              <a:gd name="adj" fmla="val 2182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Key Property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76872" y="1901952"/>
            <a:ext cx="4434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 arbitrary dependence,   FDR ≤ α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PRDS or positive-dependence assumption needed — essential here: compositional data is inherently negatively correlated, and taxa co-vary with each other.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11091672" cy="2011680"/>
          </a:xfrm>
          <a:prstGeom prst="roundRect">
            <a:avLst>
              <a:gd name="adj" fmla="val 2727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61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Threshold Magnitude (m = 5000, α = 0.05)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hypothesis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Flagging just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10⁵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3484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/ 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Flagging 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10⁴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5528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/ (10α)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Combined: one e-process per cluster (time-valid) → weekly e-BH (hypothesis-valid) ⟹ FDR controlled at any stopping time.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Primary Metric: Detection Delay and ARL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AUC — AUC has no time axis and maps to no decision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· Anytime-Valid Sequential Detection on MGS Time Series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83480" cy="1965960"/>
          </a:xfrm>
          <a:prstGeom prst="roundRect">
            <a:avLst>
              <a:gd name="adj" fmla="val 2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361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 Operating Characteristics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ARL₀ = E_∞[ T ]        mean time between false alarms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ARL₁ = E[ (T − τ)⁺ | T &gt; τ ]    detection delay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point: pin down ARL₀, compare delay distributions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42432" y="1371600"/>
            <a:ext cx="5897880" cy="1965960"/>
          </a:xfrm>
          <a:prstGeom prst="roundRect">
            <a:avLst>
              <a:gd name="adj" fmla="val 2791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5361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One Sentence Delivered to Operators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188366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 one false alarm per site per year, for a signal with a 3.5-day doubling time: median detection delay X days, 90th percentile Y days.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16752" y="28163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cannot be priced this way.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11091672" cy="2560320"/>
          </a:xfrm>
          <a:prstGeom prst="roundRect">
            <a:avLst>
              <a:gd name="adj" fmla="val 2143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124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Delay Scaling Law: Why This Scales to Thousands of Clusters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4041648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condition:  Σ_{u=1}^{d} D_u  ≥  ln( m / α )      where   D_u ≈ μ₀ ( e^(r u) − 1 − r u 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LHS grows exponentially in d, giving    d*  ≈  (1/r) · ln [ ln(m/α) · (e^r − 1) / μ₀ ]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Delay scales with doubling time (d* ∝ 1/r ∝ T_d), while the multiplicity burden m enters delay only via its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of a log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Scaling surveillance from 50 clusters to 5,000 costs only about  ln(ln 10⁵ / ln 10³) / r  ≈  less than one doubling period.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Layers, One Closing Sentence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61320" cy="1005840"/>
          </a:xfrm>
          <a:prstGeom prst="roundRect">
            <a:avLst>
              <a:gd name="adj" fmla="val 5455"/>
            </a:avLst>
          </a:prstGeom>
          <a:solidFill>
            <a:srgbClr val="14505F"/>
          </a:solidFill>
          <a:ln w="12700">
            <a:solidFill>
              <a:srgbClr val="1450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Obs. 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30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Defines “normal”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9659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Negative binomial / Dirichlet-multinomial, batch &amp; flow covariates, PMMoV normalization, CLR log-ratios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10561320" cy="1005840"/>
          </a:xfrm>
          <a:prstGeom prst="roundRect">
            <a:avLst>
              <a:gd name="adj" fmla="val 5455"/>
            </a:avLst>
          </a:prstGeom>
          <a:solidFill>
            <a:srgbClr val="14505F"/>
          </a:solidFill>
          <a:ln w="12700">
            <a:solidFill>
              <a:srgbClr val="145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Seq. Testing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Defines “enough”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32004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CUSUM and BOCPD extract evidence; e-processes + Ville's inequality guarantee anytime validity; e-BH controls FDR across clusters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10561320" cy="1005840"/>
          </a:xfrm>
          <a:prstGeom prst="roundRect">
            <a:avLst>
              <a:gd name="adj" fmla="val 5455"/>
            </a:avLst>
          </a:prstGeom>
          <a:solidFill>
            <a:srgbClr val="14505F"/>
          </a:solidFill>
          <a:ln w="12700">
            <a:solidFill>
              <a:srgbClr val="1450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Metric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Measures “how fast”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44348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Detection-delay distribution at a fixed ARL₀, plus growth rate and doubling time with confidence sequences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62356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entire principle of detection: find the one trajectory, among thousands, that has begun exponential growth — everything else is math answering “what counts as having begun.”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Change-Point Detection in MGS Time Series — Principles and Mathematical Foundations</dc:title>
  <dc:subject>PptxGenJS Presentation</dc:subject>
  <dc:creator>Sihua Peng</dc:creator>
  <cp:lastModifiedBy>Sihua Peng</cp:lastModifiedBy>
  <cp:revision>1</cp:revision>
  <dcterms:created xsi:type="dcterms:W3CDTF">2026-07-27T00:52:56Z</dcterms:created>
  <dcterms:modified xsi:type="dcterms:W3CDTF">2026-07-27T00:52:56Z</dcterms:modified>
</cp:coreProperties>
</file>